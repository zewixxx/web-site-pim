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5ABB73-B13E-8229-84D9-8BEC891114D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56D7BEA7-8194-5629-F6F6-FCCE27712FD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F7AD3B8F-6F13-438A-C8FA-923D6947603B}"/>
              </a:ext>
            </a:extLst>
          </p:cNvPr>
          <p:cNvSpPr>
            <a:spLocks noGrp="1"/>
          </p:cNvSpPr>
          <p:nvPr>
            <p:ph type="dt" sz="half" idx="10"/>
          </p:nvPr>
        </p:nvSpPr>
        <p:spPr/>
        <p:txBody>
          <a:bodyPr/>
          <a:lstStyle/>
          <a:p>
            <a:fld id="{1ACD3752-54CE-408F-93CC-C73F0CAA59AD}" type="datetimeFigureOut">
              <a:rPr lang="fr-FR" smtClean="0"/>
              <a:t>22/10/2026</a:t>
            </a:fld>
            <a:endParaRPr lang="fr-FR"/>
          </a:p>
        </p:txBody>
      </p:sp>
      <p:sp>
        <p:nvSpPr>
          <p:cNvPr id="5" name="Espace réservé du pied de page 4">
            <a:extLst>
              <a:ext uri="{FF2B5EF4-FFF2-40B4-BE49-F238E27FC236}">
                <a16:creationId xmlns:a16="http://schemas.microsoft.com/office/drawing/2014/main" id="{DD6FF46B-A4EB-DC00-058B-4D3AD2D2EC1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3BD0D27-1A48-FD20-9AD7-AC30DD98947F}"/>
              </a:ext>
            </a:extLst>
          </p:cNvPr>
          <p:cNvSpPr>
            <a:spLocks noGrp="1"/>
          </p:cNvSpPr>
          <p:nvPr>
            <p:ph type="sldNum" sz="quarter" idx="12"/>
          </p:nvPr>
        </p:nvSpPr>
        <p:spPr/>
        <p:txBody>
          <a:bodyPr/>
          <a:lstStyle/>
          <a:p>
            <a:fld id="{BCA12C3E-7D71-4BEC-AADC-6F49D82D0B19}" type="slidenum">
              <a:rPr lang="fr-FR" smtClean="0"/>
              <a:t>‹N°›</a:t>
            </a:fld>
            <a:endParaRPr lang="fr-FR"/>
          </a:p>
        </p:txBody>
      </p:sp>
    </p:spTree>
    <p:extLst>
      <p:ext uri="{BB962C8B-B14F-4D97-AF65-F5344CB8AC3E}">
        <p14:creationId xmlns:p14="http://schemas.microsoft.com/office/powerpoint/2010/main" val="3261122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641D11-7B04-7B66-6D3D-20994048DC45}"/>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017E8F0-CB64-9286-7F44-09DF2EECC94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4FF2306-1B5A-93B3-EB5B-2F11515E3A3C}"/>
              </a:ext>
            </a:extLst>
          </p:cNvPr>
          <p:cNvSpPr>
            <a:spLocks noGrp="1"/>
          </p:cNvSpPr>
          <p:nvPr>
            <p:ph type="dt" sz="half" idx="10"/>
          </p:nvPr>
        </p:nvSpPr>
        <p:spPr/>
        <p:txBody>
          <a:bodyPr/>
          <a:lstStyle/>
          <a:p>
            <a:fld id="{1ACD3752-54CE-408F-93CC-C73F0CAA59AD}" type="datetimeFigureOut">
              <a:rPr lang="fr-FR" smtClean="0"/>
              <a:t>22/10/2026</a:t>
            </a:fld>
            <a:endParaRPr lang="fr-FR"/>
          </a:p>
        </p:txBody>
      </p:sp>
      <p:sp>
        <p:nvSpPr>
          <p:cNvPr id="5" name="Espace réservé du pied de page 4">
            <a:extLst>
              <a:ext uri="{FF2B5EF4-FFF2-40B4-BE49-F238E27FC236}">
                <a16:creationId xmlns:a16="http://schemas.microsoft.com/office/drawing/2014/main" id="{724EF254-932A-8D1F-8570-A705C2A06CB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DF0A3EC-7B5E-8C94-3CF0-E049A765D7A6}"/>
              </a:ext>
            </a:extLst>
          </p:cNvPr>
          <p:cNvSpPr>
            <a:spLocks noGrp="1"/>
          </p:cNvSpPr>
          <p:nvPr>
            <p:ph type="sldNum" sz="quarter" idx="12"/>
          </p:nvPr>
        </p:nvSpPr>
        <p:spPr/>
        <p:txBody>
          <a:bodyPr/>
          <a:lstStyle/>
          <a:p>
            <a:fld id="{BCA12C3E-7D71-4BEC-AADC-6F49D82D0B19}" type="slidenum">
              <a:rPr lang="fr-FR" smtClean="0"/>
              <a:t>‹N°›</a:t>
            </a:fld>
            <a:endParaRPr lang="fr-FR"/>
          </a:p>
        </p:txBody>
      </p:sp>
    </p:spTree>
    <p:extLst>
      <p:ext uri="{BB962C8B-B14F-4D97-AF65-F5344CB8AC3E}">
        <p14:creationId xmlns:p14="http://schemas.microsoft.com/office/powerpoint/2010/main" val="3079210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171FF0-5483-30E6-838E-FFDD713C0727}"/>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367F62BF-020C-D58C-4F40-E03AF9B7ACD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CA8C0915-982C-9093-4759-31BDDD3C53D0}"/>
              </a:ext>
            </a:extLst>
          </p:cNvPr>
          <p:cNvSpPr>
            <a:spLocks noGrp="1"/>
          </p:cNvSpPr>
          <p:nvPr>
            <p:ph type="dt" sz="half" idx="10"/>
          </p:nvPr>
        </p:nvSpPr>
        <p:spPr/>
        <p:txBody>
          <a:bodyPr/>
          <a:lstStyle/>
          <a:p>
            <a:fld id="{1ACD3752-54CE-408F-93CC-C73F0CAA59AD}" type="datetimeFigureOut">
              <a:rPr lang="fr-FR" smtClean="0"/>
              <a:t>22/10/2026</a:t>
            </a:fld>
            <a:endParaRPr lang="fr-FR"/>
          </a:p>
        </p:txBody>
      </p:sp>
      <p:sp>
        <p:nvSpPr>
          <p:cNvPr id="5" name="Espace réservé du pied de page 4">
            <a:extLst>
              <a:ext uri="{FF2B5EF4-FFF2-40B4-BE49-F238E27FC236}">
                <a16:creationId xmlns:a16="http://schemas.microsoft.com/office/drawing/2014/main" id="{1D7441B6-1E6B-48E3-E4DC-8532853F4E4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8D2F224-57D9-AFB5-59FA-6D2FBD02E3C8}"/>
              </a:ext>
            </a:extLst>
          </p:cNvPr>
          <p:cNvSpPr>
            <a:spLocks noGrp="1"/>
          </p:cNvSpPr>
          <p:nvPr>
            <p:ph type="sldNum" sz="quarter" idx="12"/>
          </p:nvPr>
        </p:nvSpPr>
        <p:spPr/>
        <p:txBody>
          <a:bodyPr/>
          <a:lstStyle/>
          <a:p>
            <a:fld id="{BCA12C3E-7D71-4BEC-AADC-6F49D82D0B19}" type="slidenum">
              <a:rPr lang="fr-FR" smtClean="0"/>
              <a:t>‹N°›</a:t>
            </a:fld>
            <a:endParaRPr lang="fr-FR"/>
          </a:p>
        </p:txBody>
      </p:sp>
    </p:spTree>
    <p:extLst>
      <p:ext uri="{BB962C8B-B14F-4D97-AF65-F5344CB8AC3E}">
        <p14:creationId xmlns:p14="http://schemas.microsoft.com/office/powerpoint/2010/main" val="6339162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FF2134-921E-86E5-669D-D31AFEF9FFCD}"/>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D304BAA-D000-7E0F-AE3F-11898C87B6C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D57D951-B74D-3A53-0E6F-543638C60B8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A9D21913-C171-D2CE-9025-3AB570186ACC}"/>
              </a:ext>
            </a:extLst>
          </p:cNvPr>
          <p:cNvSpPr>
            <a:spLocks noGrp="1"/>
          </p:cNvSpPr>
          <p:nvPr>
            <p:ph type="dt" sz="half" idx="10"/>
          </p:nvPr>
        </p:nvSpPr>
        <p:spPr/>
        <p:txBody>
          <a:bodyPr/>
          <a:lstStyle/>
          <a:p>
            <a:fld id="{1ACD3752-54CE-408F-93CC-C73F0CAA59AD}" type="datetimeFigureOut">
              <a:rPr lang="fr-FR" smtClean="0"/>
              <a:t>22/10/2026</a:t>
            </a:fld>
            <a:endParaRPr lang="fr-FR"/>
          </a:p>
        </p:txBody>
      </p:sp>
      <p:sp>
        <p:nvSpPr>
          <p:cNvPr id="6" name="Espace réservé du pied de page 5">
            <a:extLst>
              <a:ext uri="{FF2B5EF4-FFF2-40B4-BE49-F238E27FC236}">
                <a16:creationId xmlns:a16="http://schemas.microsoft.com/office/drawing/2014/main" id="{E4064F80-2452-C3D9-7E09-6B9A3C98536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2DEBF8A0-8E7E-B2D4-FBFF-472B21F0034B}"/>
              </a:ext>
            </a:extLst>
          </p:cNvPr>
          <p:cNvSpPr>
            <a:spLocks noGrp="1"/>
          </p:cNvSpPr>
          <p:nvPr>
            <p:ph type="sldNum" sz="quarter" idx="12"/>
          </p:nvPr>
        </p:nvSpPr>
        <p:spPr/>
        <p:txBody>
          <a:bodyPr/>
          <a:lstStyle/>
          <a:p>
            <a:fld id="{BCA12C3E-7D71-4BEC-AADC-6F49D82D0B19}" type="slidenum">
              <a:rPr lang="fr-FR" smtClean="0"/>
              <a:t>‹N°›</a:t>
            </a:fld>
            <a:endParaRPr lang="fr-FR"/>
          </a:p>
        </p:txBody>
      </p:sp>
    </p:spTree>
    <p:extLst>
      <p:ext uri="{BB962C8B-B14F-4D97-AF65-F5344CB8AC3E}">
        <p14:creationId xmlns:p14="http://schemas.microsoft.com/office/powerpoint/2010/main" val="505539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3AB226-6FF9-7842-0757-51AF4BB64605}"/>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D74B86EF-8757-8034-248D-5BDE31D681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79D8103-802C-1A25-10FD-57BD650E567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6BDD8917-BEA3-3B36-9708-E7B15D8CFD1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4C25F7B6-D8E5-5405-54FE-EE1F482CA6F6}"/>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DCC7E14-5CD8-CC29-3124-C6A6431B711C}"/>
              </a:ext>
            </a:extLst>
          </p:cNvPr>
          <p:cNvSpPr>
            <a:spLocks noGrp="1"/>
          </p:cNvSpPr>
          <p:nvPr>
            <p:ph type="dt" sz="half" idx="10"/>
          </p:nvPr>
        </p:nvSpPr>
        <p:spPr/>
        <p:txBody>
          <a:bodyPr/>
          <a:lstStyle/>
          <a:p>
            <a:fld id="{1ACD3752-54CE-408F-93CC-C73F0CAA59AD}" type="datetimeFigureOut">
              <a:rPr lang="fr-FR" smtClean="0"/>
              <a:t>22/10/2026</a:t>
            </a:fld>
            <a:endParaRPr lang="fr-FR"/>
          </a:p>
        </p:txBody>
      </p:sp>
      <p:sp>
        <p:nvSpPr>
          <p:cNvPr id="8" name="Espace réservé du pied de page 7">
            <a:extLst>
              <a:ext uri="{FF2B5EF4-FFF2-40B4-BE49-F238E27FC236}">
                <a16:creationId xmlns:a16="http://schemas.microsoft.com/office/drawing/2014/main" id="{325F3BA2-B184-D6BF-E49B-220DFB2856CD}"/>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96BC4DFD-B432-962D-E13E-471AB548D669}"/>
              </a:ext>
            </a:extLst>
          </p:cNvPr>
          <p:cNvSpPr>
            <a:spLocks noGrp="1"/>
          </p:cNvSpPr>
          <p:nvPr>
            <p:ph type="sldNum" sz="quarter" idx="12"/>
          </p:nvPr>
        </p:nvSpPr>
        <p:spPr/>
        <p:txBody>
          <a:bodyPr/>
          <a:lstStyle/>
          <a:p>
            <a:fld id="{BCA12C3E-7D71-4BEC-AADC-6F49D82D0B19}" type="slidenum">
              <a:rPr lang="fr-FR" smtClean="0"/>
              <a:t>‹N°›</a:t>
            </a:fld>
            <a:endParaRPr lang="fr-FR"/>
          </a:p>
        </p:txBody>
      </p:sp>
    </p:spTree>
    <p:extLst>
      <p:ext uri="{BB962C8B-B14F-4D97-AF65-F5344CB8AC3E}">
        <p14:creationId xmlns:p14="http://schemas.microsoft.com/office/powerpoint/2010/main" val="4118028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24089C-60E0-7EE4-A7B0-68D9B4FE625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B34428F8-518F-5F5D-7FA7-E83FDA0A1263}"/>
              </a:ext>
            </a:extLst>
          </p:cNvPr>
          <p:cNvSpPr>
            <a:spLocks noGrp="1"/>
          </p:cNvSpPr>
          <p:nvPr>
            <p:ph type="dt" sz="half" idx="10"/>
          </p:nvPr>
        </p:nvSpPr>
        <p:spPr/>
        <p:txBody>
          <a:bodyPr/>
          <a:lstStyle/>
          <a:p>
            <a:fld id="{1ACD3752-54CE-408F-93CC-C73F0CAA59AD}" type="datetimeFigureOut">
              <a:rPr lang="fr-FR" smtClean="0"/>
              <a:t>22/10/2026</a:t>
            </a:fld>
            <a:endParaRPr lang="fr-FR"/>
          </a:p>
        </p:txBody>
      </p:sp>
      <p:sp>
        <p:nvSpPr>
          <p:cNvPr id="4" name="Espace réservé du pied de page 3">
            <a:extLst>
              <a:ext uri="{FF2B5EF4-FFF2-40B4-BE49-F238E27FC236}">
                <a16:creationId xmlns:a16="http://schemas.microsoft.com/office/drawing/2014/main" id="{51BD463C-0256-7909-60EC-70EBB1F77D68}"/>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D754B566-20CA-4B63-F6D2-E5E74494630C}"/>
              </a:ext>
            </a:extLst>
          </p:cNvPr>
          <p:cNvSpPr>
            <a:spLocks noGrp="1"/>
          </p:cNvSpPr>
          <p:nvPr>
            <p:ph type="sldNum" sz="quarter" idx="12"/>
          </p:nvPr>
        </p:nvSpPr>
        <p:spPr/>
        <p:txBody>
          <a:bodyPr/>
          <a:lstStyle/>
          <a:p>
            <a:fld id="{BCA12C3E-7D71-4BEC-AADC-6F49D82D0B19}" type="slidenum">
              <a:rPr lang="fr-FR" smtClean="0"/>
              <a:t>‹N°›</a:t>
            </a:fld>
            <a:endParaRPr lang="fr-FR"/>
          </a:p>
        </p:txBody>
      </p:sp>
    </p:spTree>
    <p:extLst>
      <p:ext uri="{BB962C8B-B14F-4D97-AF65-F5344CB8AC3E}">
        <p14:creationId xmlns:p14="http://schemas.microsoft.com/office/powerpoint/2010/main" val="3095551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4F35DCC-48D7-30E1-A6C3-4FB31896F5AC}"/>
              </a:ext>
            </a:extLst>
          </p:cNvPr>
          <p:cNvSpPr>
            <a:spLocks noGrp="1"/>
          </p:cNvSpPr>
          <p:nvPr>
            <p:ph type="dt" sz="half" idx="10"/>
          </p:nvPr>
        </p:nvSpPr>
        <p:spPr/>
        <p:txBody>
          <a:bodyPr/>
          <a:lstStyle/>
          <a:p>
            <a:fld id="{1ACD3752-54CE-408F-93CC-C73F0CAA59AD}" type="datetimeFigureOut">
              <a:rPr lang="fr-FR" smtClean="0"/>
              <a:t>22/10/2026</a:t>
            </a:fld>
            <a:endParaRPr lang="fr-FR"/>
          </a:p>
        </p:txBody>
      </p:sp>
      <p:sp>
        <p:nvSpPr>
          <p:cNvPr id="3" name="Espace réservé du pied de page 2">
            <a:extLst>
              <a:ext uri="{FF2B5EF4-FFF2-40B4-BE49-F238E27FC236}">
                <a16:creationId xmlns:a16="http://schemas.microsoft.com/office/drawing/2014/main" id="{844D9034-05CE-BAE2-B697-039CD03D46E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13E826E-9A56-B742-E17A-DC2BCE458D94}"/>
              </a:ext>
            </a:extLst>
          </p:cNvPr>
          <p:cNvSpPr>
            <a:spLocks noGrp="1"/>
          </p:cNvSpPr>
          <p:nvPr>
            <p:ph type="sldNum" sz="quarter" idx="12"/>
          </p:nvPr>
        </p:nvSpPr>
        <p:spPr/>
        <p:txBody>
          <a:bodyPr/>
          <a:lstStyle/>
          <a:p>
            <a:fld id="{BCA12C3E-7D71-4BEC-AADC-6F49D82D0B19}" type="slidenum">
              <a:rPr lang="fr-FR" smtClean="0"/>
              <a:t>‹N°›</a:t>
            </a:fld>
            <a:endParaRPr lang="fr-FR"/>
          </a:p>
        </p:txBody>
      </p:sp>
    </p:spTree>
    <p:extLst>
      <p:ext uri="{BB962C8B-B14F-4D97-AF65-F5344CB8AC3E}">
        <p14:creationId xmlns:p14="http://schemas.microsoft.com/office/powerpoint/2010/main" val="731971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5527B3-C81B-244E-D1C7-B2B3D361AD7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12956EE-CFCF-1FCA-0B88-A5630C44CDF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6966EE2F-8A48-805E-98F3-E94412202B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43812999-46F4-996C-FD03-C0EF40203B4F}"/>
              </a:ext>
            </a:extLst>
          </p:cNvPr>
          <p:cNvSpPr>
            <a:spLocks noGrp="1"/>
          </p:cNvSpPr>
          <p:nvPr>
            <p:ph type="dt" sz="half" idx="10"/>
          </p:nvPr>
        </p:nvSpPr>
        <p:spPr/>
        <p:txBody>
          <a:bodyPr/>
          <a:lstStyle/>
          <a:p>
            <a:fld id="{1ACD3752-54CE-408F-93CC-C73F0CAA59AD}" type="datetimeFigureOut">
              <a:rPr lang="fr-FR" smtClean="0"/>
              <a:t>22/10/2026</a:t>
            </a:fld>
            <a:endParaRPr lang="fr-FR"/>
          </a:p>
        </p:txBody>
      </p:sp>
      <p:sp>
        <p:nvSpPr>
          <p:cNvPr id="6" name="Espace réservé du pied de page 5">
            <a:extLst>
              <a:ext uri="{FF2B5EF4-FFF2-40B4-BE49-F238E27FC236}">
                <a16:creationId xmlns:a16="http://schemas.microsoft.com/office/drawing/2014/main" id="{BB43181F-C9CC-EFC2-012A-4DC1BC51728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832FDB9-7A4F-1450-BFE8-3ACA3F6D539E}"/>
              </a:ext>
            </a:extLst>
          </p:cNvPr>
          <p:cNvSpPr>
            <a:spLocks noGrp="1"/>
          </p:cNvSpPr>
          <p:nvPr>
            <p:ph type="sldNum" sz="quarter" idx="12"/>
          </p:nvPr>
        </p:nvSpPr>
        <p:spPr/>
        <p:txBody>
          <a:bodyPr/>
          <a:lstStyle/>
          <a:p>
            <a:fld id="{BCA12C3E-7D71-4BEC-AADC-6F49D82D0B19}" type="slidenum">
              <a:rPr lang="fr-FR" smtClean="0"/>
              <a:t>‹N°›</a:t>
            </a:fld>
            <a:endParaRPr lang="fr-FR"/>
          </a:p>
        </p:txBody>
      </p:sp>
    </p:spTree>
    <p:extLst>
      <p:ext uri="{BB962C8B-B14F-4D97-AF65-F5344CB8AC3E}">
        <p14:creationId xmlns:p14="http://schemas.microsoft.com/office/powerpoint/2010/main" val="1597781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9FBEF9-66D6-55C7-2DED-B1294FDA188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594A9874-ABD1-C2B0-06CF-E7124E6745A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82B59E5F-FDC8-CB36-5D89-10AF6F0E93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F435FCA-DB20-821E-EC6C-0280771A0DCD}"/>
              </a:ext>
            </a:extLst>
          </p:cNvPr>
          <p:cNvSpPr>
            <a:spLocks noGrp="1"/>
          </p:cNvSpPr>
          <p:nvPr>
            <p:ph type="dt" sz="half" idx="10"/>
          </p:nvPr>
        </p:nvSpPr>
        <p:spPr/>
        <p:txBody>
          <a:bodyPr/>
          <a:lstStyle/>
          <a:p>
            <a:fld id="{1ACD3752-54CE-408F-93CC-C73F0CAA59AD}" type="datetimeFigureOut">
              <a:rPr lang="fr-FR" smtClean="0"/>
              <a:t>22/10/2026</a:t>
            </a:fld>
            <a:endParaRPr lang="fr-FR"/>
          </a:p>
        </p:txBody>
      </p:sp>
      <p:sp>
        <p:nvSpPr>
          <p:cNvPr id="6" name="Espace réservé du pied de page 5">
            <a:extLst>
              <a:ext uri="{FF2B5EF4-FFF2-40B4-BE49-F238E27FC236}">
                <a16:creationId xmlns:a16="http://schemas.microsoft.com/office/drawing/2014/main" id="{0DC849E5-8DAB-CA86-59E8-EC39732E3C1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A6377BD-4D49-18BD-66B2-1ADEE86DD41B}"/>
              </a:ext>
            </a:extLst>
          </p:cNvPr>
          <p:cNvSpPr>
            <a:spLocks noGrp="1"/>
          </p:cNvSpPr>
          <p:nvPr>
            <p:ph type="sldNum" sz="quarter" idx="12"/>
          </p:nvPr>
        </p:nvSpPr>
        <p:spPr/>
        <p:txBody>
          <a:bodyPr/>
          <a:lstStyle/>
          <a:p>
            <a:fld id="{BCA12C3E-7D71-4BEC-AADC-6F49D82D0B19}" type="slidenum">
              <a:rPr lang="fr-FR" smtClean="0"/>
              <a:t>‹N°›</a:t>
            </a:fld>
            <a:endParaRPr lang="fr-FR"/>
          </a:p>
        </p:txBody>
      </p:sp>
    </p:spTree>
    <p:extLst>
      <p:ext uri="{BB962C8B-B14F-4D97-AF65-F5344CB8AC3E}">
        <p14:creationId xmlns:p14="http://schemas.microsoft.com/office/powerpoint/2010/main" val="9863906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901A8D-2F4F-4A19-1D66-E34DFD9EC145}"/>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3E62BAE-2DA1-4550-A367-54D201521F36}"/>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7D93593-5FF0-239A-D118-2553C957A40C}"/>
              </a:ext>
            </a:extLst>
          </p:cNvPr>
          <p:cNvSpPr>
            <a:spLocks noGrp="1"/>
          </p:cNvSpPr>
          <p:nvPr>
            <p:ph type="dt" sz="half" idx="10"/>
          </p:nvPr>
        </p:nvSpPr>
        <p:spPr/>
        <p:txBody>
          <a:bodyPr/>
          <a:lstStyle/>
          <a:p>
            <a:fld id="{1ACD3752-54CE-408F-93CC-C73F0CAA59AD}" type="datetimeFigureOut">
              <a:rPr lang="fr-FR" smtClean="0"/>
              <a:t>22/10/2026</a:t>
            </a:fld>
            <a:endParaRPr lang="fr-FR"/>
          </a:p>
        </p:txBody>
      </p:sp>
      <p:sp>
        <p:nvSpPr>
          <p:cNvPr id="5" name="Espace réservé du pied de page 4">
            <a:extLst>
              <a:ext uri="{FF2B5EF4-FFF2-40B4-BE49-F238E27FC236}">
                <a16:creationId xmlns:a16="http://schemas.microsoft.com/office/drawing/2014/main" id="{4F21D08B-CD35-B1D8-91E4-CB06357374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BFEA2EF-5F5C-5EFF-7477-AD1013933F9D}"/>
              </a:ext>
            </a:extLst>
          </p:cNvPr>
          <p:cNvSpPr>
            <a:spLocks noGrp="1"/>
          </p:cNvSpPr>
          <p:nvPr>
            <p:ph type="sldNum" sz="quarter" idx="12"/>
          </p:nvPr>
        </p:nvSpPr>
        <p:spPr/>
        <p:txBody>
          <a:bodyPr/>
          <a:lstStyle/>
          <a:p>
            <a:fld id="{BCA12C3E-7D71-4BEC-AADC-6F49D82D0B19}" type="slidenum">
              <a:rPr lang="fr-FR" smtClean="0"/>
              <a:t>‹N°›</a:t>
            </a:fld>
            <a:endParaRPr lang="fr-FR"/>
          </a:p>
        </p:txBody>
      </p:sp>
    </p:spTree>
    <p:extLst>
      <p:ext uri="{BB962C8B-B14F-4D97-AF65-F5344CB8AC3E}">
        <p14:creationId xmlns:p14="http://schemas.microsoft.com/office/powerpoint/2010/main" val="86081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5133F852-CE12-DE85-4438-E3AFEEDB5305}"/>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2EBEF094-55CD-2181-5A61-B1F5574288DA}"/>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1696B7C-F8B7-C90C-FF20-35996888A1A7}"/>
              </a:ext>
            </a:extLst>
          </p:cNvPr>
          <p:cNvSpPr>
            <a:spLocks noGrp="1"/>
          </p:cNvSpPr>
          <p:nvPr>
            <p:ph type="dt" sz="half" idx="10"/>
          </p:nvPr>
        </p:nvSpPr>
        <p:spPr/>
        <p:txBody>
          <a:bodyPr/>
          <a:lstStyle/>
          <a:p>
            <a:fld id="{1ACD3752-54CE-408F-93CC-C73F0CAA59AD}" type="datetimeFigureOut">
              <a:rPr lang="fr-FR" smtClean="0"/>
              <a:t>22/10/2026</a:t>
            </a:fld>
            <a:endParaRPr lang="fr-FR"/>
          </a:p>
        </p:txBody>
      </p:sp>
      <p:sp>
        <p:nvSpPr>
          <p:cNvPr id="5" name="Espace réservé du pied de page 4">
            <a:extLst>
              <a:ext uri="{FF2B5EF4-FFF2-40B4-BE49-F238E27FC236}">
                <a16:creationId xmlns:a16="http://schemas.microsoft.com/office/drawing/2014/main" id="{505A27B9-8C6E-D48A-B367-42DBFA86916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921E901-16A5-57B7-31F3-67E5E62AFF12}"/>
              </a:ext>
            </a:extLst>
          </p:cNvPr>
          <p:cNvSpPr>
            <a:spLocks noGrp="1"/>
          </p:cNvSpPr>
          <p:nvPr>
            <p:ph type="sldNum" sz="quarter" idx="12"/>
          </p:nvPr>
        </p:nvSpPr>
        <p:spPr/>
        <p:txBody>
          <a:bodyPr/>
          <a:lstStyle/>
          <a:p>
            <a:fld id="{BCA12C3E-7D71-4BEC-AADC-6F49D82D0B19}" type="slidenum">
              <a:rPr lang="fr-FR" smtClean="0"/>
              <a:t>‹N°›</a:t>
            </a:fld>
            <a:endParaRPr lang="fr-FR"/>
          </a:p>
        </p:txBody>
      </p:sp>
    </p:spTree>
    <p:extLst>
      <p:ext uri="{BB962C8B-B14F-4D97-AF65-F5344CB8AC3E}">
        <p14:creationId xmlns:p14="http://schemas.microsoft.com/office/powerpoint/2010/main" val="3184621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A8E9672-1BF3-C8A1-29B4-95D7F3954A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EEFAFABF-532F-A72A-ED63-E49D49A046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5906B04-4CD4-8412-DF7D-3242E46847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ACD3752-54CE-408F-93CC-C73F0CAA59AD}" type="datetimeFigureOut">
              <a:rPr lang="fr-FR" smtClean="0"/>
              <a:t>22/10/2026</a:t>
            </a:fld>
            <a:endParaRPr lang="fr-FR"/>
          </a:p>
        </p:txBody>
      </p:sp>
      <p:sp>
        <p:nvSpPr>
          <p:cNvPr id="5" name="Espace réservé du pied de page 4">
            <a:extLst>
              <a:ext uri="{FF2B5EF4-FFF2-40B4-BE49-F238E27FC236}">
                <a16:creationId xmlns:a16="http://schemas.microsoft.com/office/drawing/2014/main" id="{DB48519B-502D-12B3-32DF-8D3BD2E1ED8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DB57FF0B-4818-C0CF-849B-A938205CA0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A12C3E-7D71-4BEC-AADC-6F49D82D0B19}" type="slidenum">
              <a:rPr lang="fr-FR" smtClean="0"/>
              <a:t>‹N°›</a:t>
            </a:fld>
            <a:endParaRPr lang="fr-FR"/>
          </a:p>
        </p:txBody>
      </p:sp>
    </p:spTree>
    <p:extLst>
      <p:ext uri="{BB962C8B-B14F-4D97-AF65-F5344CB8AC3E}">
        <p14:creationId xmlns:p14="http://schemas.microsoft.com/office/powerpoint/2010/main" val="4463220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1C1C"/>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8758ADB1-EC3D-02FA-4178-5CC6C12F54EC}"/>
              </a:ext>
            </a:extLst>
          </p:cNvPr>
          <p:cNvSpPr txBox="1"/>
          <p:nvPr/>
        </p:nvSpPr>
        <p:spPr>
          <a:xfrm>
            <a:off x="609600" y="889000"/>
            <a:ext cx="10414000" cy="307777"/>
          </a:xfrm>
          <a:prstGeom prst="rect">
            <a:avLst/>
          </a:prstGeom>
          <a:noFill/>
        </p:spPr>
        <p:txBody>
          <a:bodyPr vert="horz" wrap="square" rtlCol="0">
            <a:noAutofit/>
          </a:bodyPr>
          <a:lstStyle/>
          <a:p>
            <a:r>
              <a:rPr lang="fr-FR" sz="1400" b="1" dirty="0">
                <a:solidFill>
                  <a:srgbClr val="E7B3C4"/>
                </a:solidFill>
                <a:latin typeface="Calibri" panose="020F0502020204030204" pitchFamily="34" charset="0"/>
              </a:rPr>
              <a:t>PIM INDUSTRIE </a:t>
            </a:r>
          </a:p>
        </p:txBody>
      </p:sp>
      <p:sp>
        <p:nvSpPr>
          <p:cNvPr id="3" name="ZoneTexte 2">
            <a:extLst>
              <a:ext uri="{FF2B5EF4-FFF2-40B4-BE49-F238E27FC236}">
                <a16:creationId xmlns:a16="http://schemas.microsoft.com/office/drawing/2014/main" id="{065142A0-191B-6E27-B8D1-654711794A46}"/>
              </a:ext>
            </a:extLst>
          </p:cNvPr>
          <p:cNvSpPr txBox="1"/>
          <p:nvPr/>
        </p:nvSpPr>
        <p:spPr>
          <a:xfrm>
            <a:off x="609600" y="1651000"/>
            <a:ext cx="10668000" cy="1200329"/>
          </a:xfrm>
          <a:prstGeom prst="rect">
            <a:avLst/>
          </a:prstGeom>
          <a:noFill/>
        </p:spPr>
        <p:txBody>
          <a:bodyPr vert="horz" wrap="square" rtlCol="0">
            <a:noAutofit/>
          </a:bodyPr>
          <a:lstStyle/>
          <a:p>
            <a:r>
              <a:rPr lang="fr-FR" sz="3600" b="1">
                <a:solidFill>
                  <a:srgbClr val="FFFFFF"/>
                </a:solidFill>
                <a:latin typeface="Calibri" panose="020F0502020204030204" pitchFamily="34" charset="0"/>
              </a:rPr>
              <a:t>Rendre le site plus facile à trouver, et plus simple à utiliser.</a:t>
            </a:r>
          </a:p>
        </p:txBody>
      </p:sp>
      <p:sp>
        <p:nvSpPr>
          <p:cNvPr id="4" name="ZoneTexte 3">
            <a:extLst>
              <a:ext uri="{FF2B5EF4-FFF2-40B4-BE49-F238E27FC236}">
                <a16:creationId xmlns:a16="http://schemas.microsoft.com/office/drawing/2014/main" id="{1E72CDFC-E840-DEE1-1082-4B9900ECC8A3}"/>
              </a:ext>
            </a:extLst>
          </p:cNvPr>
          <p:cNvSpPr txBox="1"/>
          <p:nvPr/>
        </p:nvSpPr>
        <p:spPr>
          <a:xfrm>
            <a:off x="609600" y="3683000"/>
            <a:ext cx="9906000" cy="707886"/>
          </a:xfrm>
          <a:prstGeom prst="rect">
            <a:avLst/>
          </a:prstGeom>
          <a:noFill/>
        </p:spPr>
        <p:txBody>
          <a:bodyPr vert="horz" wrap="square" rtlCol="0">
            <a:noAutofit/>
          </a:bodyPr>
          <a:lstStyle/>
          <a:p>
            <a:r>
              <a:rPr lang="fr-FR" sz="2000" dirty="0">
                <a:solidFill>
                  <a:srgbClr val="DCDCDC"/>
                </a:solidFill>
                <a:latin typeface="Calibri" panose="020F0502020204030204" pitchFamily="34" charset="0"/>
              </a:rPr>
              <a:t>Ce que nous allons changer pour les clients, et pour être mieux vu sur Google. Sans changer la marque.</a:t>
            </a:r>
          </a:p>
        </p:txBody>
      </p:sp>
    </p:spTree>
    <p:extLst>
      <p:ext uri="{BB962C8B-B14F-4D97-AF65-F5344CB8AC3E}">
        <p14:creationId xmlns:p14="http://schemas.microsoft.com/office/powerpoint/2010/main" val="34825574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27D30A-8AE9-0B1B-F83C-AA644FB200C2}"/>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BB5FC954-37E6-FC5D-BB8F-DA3FD8A2997A}"/>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L'objectif, en une phrase</a:t>
            </a:r>
          </a:p>
        </p:txBody>
      </p:sp>
      <p:sp>
        <p:nvSpPr>
          <p:cNvPr id="4" name="ZoneTexte 3">
            <a:extLst>
              <a:ext uri="{FF2B5EF4-FFF2-40B4-BE49-F238E27FC236}">
                <a16:creationId xmlns:a16="http://schemas.microsoft.com/office/drawing/2014/main" id="{28ECD39B-96C0-8448-5489-848D0D8B1E5F}"/>
              </a:ext>
            </a:extLst>
          </p:cNvPr>
          <p:cNvSpPr txBox="1"/>
          <p:nvPr/>
        </p:nvSpPr>
        <p:spPr>
          <a:xfrm>
            <a:off x="457200" y="1016000"/>
            <a:ext cx="11176000" cy="769441"/>
          </a:xfrm>
          <a:prstGeom prst="rect">
            <a:avLst/>
          </a:prstGeom>
          <a:noFill/>
        </p:spPr>
        <p:txBody>
          <a:bodyPr vert="horz" wrap="square" rtlCol="0">
            <a:noAutofit/>
          </a:bodyPr>
          <a:lstStyle/>
          <a:p>
            <a:r>
              <a:rPr lang="fr-FR" sz="2200">
                <a:solidFill>
                  <a:srgbClr val="1C1C1C"/>
                </a:solidFill>
                <a:latin typeface="Calibri" panose="020F0502020204030204" pitchFamily="34" charset="0"/>
              </a:rPr>
              <a:t>Quand quelqu'un cherche un clavier, une façade ou une étiquette pour son métier, il doit tomber sur PIM, comprendre ce que nous savons faire, et pouvoir nous écrire.</a:t>
            </a:r>
          </a:p>
        </p:txBody>
      </p:sp>
      <p:sp>
        <p:nvSpPr>
          <p:cNvPr id="5" name="Rectangle 4">
            <a:extLst>
              <a:ext uri="{FF2B5EF4-FFF2-40B4-BE49-F238E27FC236}">
                <a16:creationId xmlns:a16="http://schemas.microsoft.com/office/drawing/2014/main" id="{93F7AB3A-ED40-E18D-A162-AB0411759054}"/>
              </a:ext>
            </a:extLst>
          </p:cNvPr>
          <p:cNvSpPr/>
          <p:nvPr/>
        </p:nvSpPr>
        <p:spPr>
          <a:xfrm>
            <a:off x="457200" y="2921000"/>
            <a:ext cx="3556000" cy="2540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8D215B20-29ED-7340-D518-717F931F0BAD}"/>
              </a:ext>
            </a:extLst>
          </p:cNvPr>
          <p:cNvSpPr txBox="1"/>
          <p:nvPr/>
        </p:nvSpPr>
        <p:spPr>
          <a:xfrm>
            <a:off x="660400" y="3149600"/>
            <a:ext cx="3149600" cy="400110"/>
          </a:xfrm>
          <a:prstGeom prst="rect">
            <a:avLst/>
          </a:prstGeom>
          <a:noFill/>
        </p:spPr>
        <p:txBody>
          <a:bodyPr vert="horz" wrap="square" rtlCol="0">
            <a:noAutofit/>
          </a:bodyPr>
          <a:lstStyle/>
          <a:p>
            <a:r>
              <a:rPr lang="fr-FR" sz="2000" b="1">
                <a:solidFill>
                  <a:srgbClr val="970232"/>
                </a:solidFill>
                <a:latin typeface="Calibri" panose="020F0502020204030204" pitchFamily="34" charset="0"/>
              </a:rPr>
              <a:t>1. Trouver</a:t>
            </a:r>
          </a:p>
        </p:txBody>
      </p:sp>
      <p:sp>
        <p:nvSpPr>
          <p:cNvPr id="7" name="ZoneTexte 6">
            <a:extLst>
              <a:ext uri="{FF2B5EF4-FFF2-40B4-BE49-F238E27FC236}">
                <a16:creationId xmlns:a16="http://schemas.microsoft.com/office/drawing/2014/main" id="{BE480449-0706-AF6C-D559-BCC8497D9339}"/>
              </a:ext>
            </a:extLst>
          </p:cNvPr>
          <p:cNvSpPr txBox="1"/>
          <p:nvPr/>
        </p:nvSpPr>
        <p:spPr>
          <a:xfrm>
            <a:off x="660400" y="3810000"/>
            <a:ext cx="3149600" cy="584775"/>
          </a:xfrm>
          <a:prstGeom prst="rect">
            <a:avLst/>
          </a:prstGeom>
          <a:noFill/>
        </p:spPr>
        <p:txBody>
          <a:bodyPr vert="horz" wrap="square" rtlCol="0">
            <a:noAutofit/>
          </a:bodyPr>
          <a:lstStyle/>
          <a:p>
            <a:r>
              <a:rPr lang="fr-FR" sz="1600">
                <a:solidFill>
                  <a:srgbClr val="1C1C1C"/>
                </a:solidFill>
                <a:latin typeface="Calibri" panose="020F0502020204030204" pitchFamily="34" charset="0"/>
              </a:rPr>
              <a:t>La bonne page apparaît dans Google, avec un titre clair.</a:t>
            </a:r>
          </a:p>
        </p:txBody>
      </p:sp>
      <p:sp>
        <p:nvSpPr>
          <p:cNvPr id="8" name="Rectangle 7">
            <a:extLst>
              <a:ext uri="{FF2B5EF4-FFF2-40B4-BE49-F238E27FC236}">
                <a16:creationId xmlns:a16="http://schemas.microsoft.com/office/drawing/2014/main" id="{5CCE4A54-645F-5D5C-5657-B9F0E1291A7A}"/>
              </a:ext>
            </a:extLst>
          </p:cNvPr>
          <p:cNvSpPr/>
          <p:nvPr/>
        </p:nvSpPr>
        <p:spPr>
          <a:xfrm>
            <a:off x="4267200" y="2921000"/>
            <a:ext cx="3556000" cy="2540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62E4FA14-7315-B170-FED8-1B528615E9CA}"/>
              </a:ext>
            </a:extLst>
          </p:cNvPr>
          <p:cNvSpPr txBox="1"/>
          <p:nvPr/>
        </p:nvSpPr>
        <p:spPr>
          <a:xfrm>
            <a:off x="4470400" y="3149600"/>
            <a:ext cx="3149600" cy="400110"/>
          </a:xfrm>
          <a:prstGeom prst="rect">
            <a:avLst/>
          </a:prstGeom>
          <a:noFill/>
        </p:spPr>
        <p:txBody>
          <a:bodyPr vert="horz" wrap="square" rtlCol="0">
            <a:noAutofit/>
          </a:bodyPr>
          <a:lstStyle/>
          <a:p>
            <a:r>
              <a:rPr lang="fr-FR" sz="2000" b="1">
                <a:solidFill>
                  <a:srgbClr val="970232"/>
                </a:solidFill>
                <a:latin typeface="Calibri" panose="020F0502020204030204" pitchFamily="34" charset="0"/>
              </a:rPr>
              <a:t>2. Comprendre</a:t>
            </a:r>
          </a:p>
        </p:txBody>
      </p:sp>
      <p:sp>
        <p:nvSpPr>
          <p:cNvPr id="10" name="ZoneTexte 9">
            <a:extLst>
              <a:ext uri="{FF2B5EF4-FFF2-40B4-BE49-F238E27FC236}">
                <a16:creationId xmlns:a16="http://schemas.microsoft.com/office/drawing/2014/main" id="{A5776C79-5C7F-5831-C2F6-C8096C6DC4BC}"/>
              </a:ext>
            </a:extLst>
          </p:cNvPr>
          <p:cNvSpPr txBox="1"/>
          <p:nvPr/>
        </p:nvSpPr>
        <p:spPr>
          <a:xfrm>
            <a:off x="4470400" y="3810000"/>
            <a:ext cx="3149600" cy="584775"/>
          </a:xfrm>
          <a:prstGeom prst="rect">
            <a:avLst/>
          </a:prstGeom>
          <a:noFill/>
        </p:spPr>
        <p:txBody>
          <a:bodyPr vert="horz" wrap="square" rtlCol="0">
            <a:noAutofit/>
          </a:bodyPr>
          <a:lstStyle/>
          <a:p>
            <a:r>
              <a:rPr lang="fr-FR" sz="1600">
                <a:solidFill>
                  <a:srgbClr val="1C1C1C"/>
                </a:solidFill>
                <a:latin typeface="Calibri" panose="020F0502020204030204" pitchFamily="34" charset="0"/>
              </a:rPr>
              <a:t>Le visiteur voit tout de suite si PIM peut l'aider.</a:t>
            </a:r>
          </a:p>
        </p:txBody>
      </p:sp>
      <p:sp>
        <p:nvSpPr>
          <p:cNvPr id="11" name="Rectangle 10">
            <a:extLst>
              <a:ext uri="{FF2B5EF4-FFF2-40B4-BE49-F238E27FC236}">
                <a16:creationId xmlns:a16="http://schemas.microsoft.com/office/drawing/2014/main" id="{6FD09535-D67D-3C02-4D82-799CF1877C45}"/>
              </a:ext>
            </a:extLst>
          </p:cNvPr>
          <p:cNvSpPr/>
          <p:nvPr/>
        </p:nvSpPr>
        <p:spPr>
          <a:xfrm>
            <a:off x="8077200" y="2921000"/>
            <a:ext cx="3556000" cy="2540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3055D21C-A861-5A68-8F9E-FEF789194A18}"/>
              </a:ext>
            </a:extLst>
          </p:cNvPr>
          <p:cNvSpPr txBox="1"/>
          <p:nvPr/>
        </p:nvSpPr>
        <p:spPr>
          <a:xfrm>
            <a:off x="8280400" y="3149600"/>
            <a:ext cx="3149600" cy="400110"/>
          </a:xfrm>
          <a:prstGeom prst="rect">
            <a:avLst/>
          </a:prstGeom>
          <a:noFill/>
        </p:spPr>
        <p:txBody>
          <a:bodyPr vert="horz" wrap="square" rtlCol="0">
            <a:noAutofit/>
          </a:bodyPr>
          <a:lstStyle/>
          <a:p>
            <a:r>
              <a:rPr lang="fr-FR" sz="2000" b="1">
                <a:solidFill>
                  <a:srgbClr val="970232"/>
                </a:solidFill>
                <a:latin typeface="Calibri" panose="020F0502020204030204" pitchFamily="34" charset="0"/>
              </a:rPr>
              <a:t>3. Écrire</a:t>
            </a:r>
          </a:p>
        </p:txBody>
      </p:sp>
      <p:sp>
        <p:nvSpPr>
          <p:cNvPr id="13" name="ZoneTexte 12">
            <a:extLst>
              <a:ext uri="{FF2B5EF4-FFF2-40B4-BE49-F238E27FC236}">
                <a16:creationId xmlns:a16="http://schemas.microsoft.com/office/drawing/2014/main" id="{296DF09F-AB31-A822-C637-4B2D2764BE53}"/>
              </a:ext>
            </a:extLst>
          </p:cNvPr>
          <p:cNvSpPr txBox="1"/>
          <p:nvPr/>
        </p:nvSpPr>
        <p:spPr>
          <a:xfrm>
            <a:off x="8280400" y="3810000"/>
            <a:ext cx="3149600" cy="584775"/>
          </a:xfrm>
          <a:prstGeom prst="rect">
            <a:avLst/>
          </a:prstGeom>
          <a:noFill/>
        </p:spPr>
        <p:txBody>
          <a:bodyPr vert="horz" wrap="square" rtlCol="0">
            <a:noAutofit/>
          </a:bodyPr>
          <a:lstStyle/>
          <a:p>
            <a:r>
              <a:rPr lang="fr-FR" sz="1600">
                <a:solidFill>
                  <a:srgbClr val="1C1C1C"/>
                </a:solidFill>
                <a:latin typeface="Calibri" panose="020F0502020204030204" pitchFamily="34" charset="0"/>
              </a:rPr>
              <a:t>Il peut décrire son besoin sans remplir un long formulaire.</a:t>
            </a:r>
          </a:p>
        </p:txBody>
      </p:sp>
    </p:spTree>
    <p:extLst>
      <p:ext uri="{BB962C8B-B14F-4D97-AF65-F5344CB8AC3E}">
        <p14:creationId xmlns:p14="http://schemas.microsoft.com/office/powerpoint/2010/main" val="35468176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5E039C-C418-CE50-DB34-88D996EFACCB}"/>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238E44F2-32C9-4750-0144-618601A78711}"/>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Ce que le visiteur vit aujourd'hui</a:t>
            </a:r>
          </a:p>
        </p:txBody>
      </p:sp>
      <p:sp>
        <p:nvSpPr>
          <p:cNvPr id="4" name="Ellipse 3">
            <a:extLst>
              <a:ext uri="{FF2B5EF4-FFF2-40B4-BE49-F238E27FC236}">
                <a16:creationId xmlns:a16="http://schemas.microsoft.com/office/drawing/2014/main" id="{583D9675-0838-1039-AF3E-D635916AA706}"/>
              </a:ext>
            </a:extLst>
          </p:cNvPr>
          <p:cNvSpPr/>
          <p:nvPr/>
        </p:nvSpPr>
        <p:spPr>
          <a:xfrm>
            <a:off x="508000" y="12446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CE9C2F92-4615-952C-5398-C0FB1FD630C1}"/>
              </a:ext>
            </a:extLst>
          </p:cNvPr>
          <p:cNvSpPr txBox="1"/>
          <p:nvPr/>
        </p:nvSpPr>
        <p:spPr>
          <a:xfrm>
            <a:off x="736600" y="11430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Il entre presque seulement par le nom du produit. Beaucoup ne le connaissent pas encore.</a:t>
            </a:r>
          </a:p>
        </p:txBody>
      </p:sp>
      <p:sp>
        <p:nvSpPr>
          <p:cNvPr id="6" name="Ellipse 5">
            <a:extLst>
              <a:ext uri="{FF2B5EF4-FFF2-40B4-BE49-F238E27FC236}">
                <a16:creationId xmlns:a16="http://schemas.microsoft.com/office/drawing/2014/main" id="{CB4A74DC-31B7-1EE4-925E-5C56F79BA0BA}"/>
              </a:ext>
            </a:extLst>
          </p:cNvPr>
          <p:cNvSpPr/>
          <p:nvPr/>
        </p:nvSpPr>
        <p:spPr>
          <a:xfrm>
            <a:off x="508000" y="18288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44FFD810-8ACA-5116-7E8B-0F3DA7F440CE}"/>
              </a:ext>
            </a:extLst>
          </p:cNvPr>
          <p:cNvSpPr txBox="1"/>
          <p:nvPr/>
        </p:nvSpPr>
        <p:spPr>
          <a:xfrm>
            <a:off x="736600" y="17272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Les métiers (médical, aéronautique, luxe...) sont souvent une image, sans explication.</a:t>
            </a:r>
          </a:p>
        </p:txBody>
      </p:sp>
      <p:sp>
        <p:nvSpPr>
          <p:cNvPr id="8" name="Ellipse 7">
            <a:extLst>
              <a:ext uri="{FF2B5EF4-FFF2-40B4-BE49-F238E27FC236}">
                <a16:creationId xmlns:a16="http://schemas.microsoft.com/office/drawing/2014/main" id="{6829E336-1446-B5C2-0A3F-278797040B10}"/>
              </a:ext>
            </a:extLst>
          </p:cNvPr>
          <p:cNvSpPr/>
          <p:nvPr/>
        </p:nvSpPr>
        <p:spPr>
          <a:xfrm>
            <a:off x="508000" y="24130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30EBA935-8F05-4618-875C-289B35A7D2E7}"/>
              </a:ext>
            </a:extLst>
          </p:cNvPr>
          <p:cNvSpPr txBox="1"/>
          <p:nvPr/>
        </p:nvSpPr>
        <p:spPr>
          <a:xfrm>
            <a:off x="736600" y="23114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Les preuves de PIM existent, mais il faut les chercher loin dans les pages.</a:t>
            </a:r>
          </a:p>
        </p:txBody>
      </p:sp>
      <p:sp>
        <p:nvSpPr>
          <p:cNvPr id="10" name="Ellipse 9">
            <a:extLst>
              <a:ext uri="{FF2B5EF4-FFF2-40B4-BE49-F238E27FC236}">
                <a16:creationId xmlns:a16="http://schemas.microsoft.com/office/drawing/2014/main" id="{59BE3012-FE72-FB9A-0F92-0EB566A5F5CE}"/>
              </a:ext>
            </a:extLst>
          </p:cNvPr>
          <p:cNvSpPr/>
          <p:nvPr/>
        </p:nvSpPr>
        <p:spPr>
          <a:xfrm>
            <a:off x="508000" y="29972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EE9041DF-FC74-1DA9-1DC0-203D2E3990E1}"/>
              </a:ext>
            </a:extLst>
          </p:cNvPr>
          <p:cNvSpPr txBox="1"/>
          <p:nvPr/>
        </p:nvSpPr>
        <p:spPr>
          <a:xfrm>
            <a:off x="736600" y="28956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Le glossaire est vide. Le plan du site aussi. Un lien « protection des données » ne mène nulle part.</a:t>
            </a:r>
          </a:p>
        </p:txBody>
      </p:sp>
      <p:sp>
        <p:nvSpPr>
          <p:cNvPr id="12" name="Ellipse 11">
            <a:extLst>
              <a:ext uri="{FF2B5EF4-FFF2-40B4-BE49-F238E27FC236}">
                <a16:creationId xmlns:a16="http://schemas.microsoft.com/office/drawing/2014/main" id="{7ED8FD60-621F-39E6-B1EE-9216AA7C9B9E}"/>
              </a:ext>
            </a:extLst>
          </p:cNvPr>
          <p:cNvSpPr/>
          <p:nvPr/>
        </p:nvSpPr>
        <p:spPr>
          <a:xfrm>
            <a:off x="508000" y="35814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EA2B8983-8FC8-FED2-2E41-61724EE02674}"/>
              </a:ext>
            </a:extLst>
          </p:cNvPr>
          <p:cNvSpPr txBox="1"/>
          <p:nvPr/>
        </p:nvSpPr>
        <p:spPr>
          <a:xfrm>
            <a:off x="736600" y="34798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Pour écrire, le formulaire est long, avant même d'avoir expliqué le besoin.</a:t>
            </a:r>
          </a:p>
        </p:txBody>
      </p:sp>
    </p:spTree>
    <p:extLst>
      <p:ext uri="{BB962C8B-B14F-4D97-AF65-F5344CB8AC3E}">
        <p14:creationId xmlns:p14="http://schemas.microsoft.com/office/powerpoint/2010/main" val="901163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0188ED-C52A-FB47-C991-71FD0C6471C6}"/>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FD5B1315-8EC2-A527-2C33-2403A098A383}"/>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Ce que le visiteur vivra demain</a:t>
            </a:r>
          </a:p>
        </p:txBody>
      </p:sp>
      <p:sp>
        <p:nvSpPr>
          <p:cNvPr id="4" name="Ellipse 3">
            <a:extLst>
              <a:ext uri="{FF2B5EF4-FFF2-40B4-BE49-F238E27FC236}">
                <a16:creationId xmlns:a16="http://schemas.microsoft.com/office/drawing/2014/main" id="{ABF3E092-5978-D2B8-8878-0D4B0F975508}"/>
              </a:ext>
            </a:extLst>
          </p:cNvPr>
          <p:cNvSpPr/>
          <p:nvPr/>
        </p:nvSpPr>
        <p:spPr>
          <a:xfrm>
            <a:off x="508000" y="12446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9BEF14B2-E271-8325-B94A-2E88AE24B591}"/>
              </a:ext>
            </a:extLst>
          </p:cNvPr>
          <p:cNvSpPr txBox="1"/>
          <p:nvPr/>
        </p:nvSpPr>
        <p:spPr>
          <a:xfrm>
            <a:off x="736600" y="11430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Trois portes : son besoin, son métier, ou le produit s'il le connaît déjà.</a:t>
            </a:r>
          </a:p>
        </p:txBody>
      </p:sp>
      <p:sp>
        <p:nvSpPr>
          <p:cNvPr id="6" name="Ellipse 5">
            <a:extLst>
              <a:ext uri="{FF2B5EF4-FFF2-40B4-BE49-F238E27FC236}">
                <a16:creationId xmlns:a16="http://schemas.microsoft.com/office/drawing/2014/main" id="{82651B09-3E55-C1AA-7A03-0385481DB2A2}"/>
              </a:ext>
            </a:extLst>
          </p:cNvPr>
          <p:cNvSpPr/>
          <p:nvPr/>
        </p:nvSpPr>
        <p:spPr>
          <a:xfrm>
            <a:off x="508000" y="18288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95E059DF-9230-DD96-0C3B-5BB66E5E87FB}"/>
              </a:ext>
            </a:extLst>
          </p:cNvPr>
          <p:cNvSpPr txBox="1"/>
          <p:nvPr/>
        </p:nvSpPr>
        <p:spPr>
          <a:xfrm>
            <a:off x="736600" y="17272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Chaque métier a sa page, avec un vrai texte et les produits qui vont avec.</a:t>
            </a:r>
          </a:p>
        </p:txBody>
      </p:sp>
      <p:sp>
        <p:nvSpPr>
          <p:cNvPr id="8" name="Ellipse 7">
            <a:extLst>
              <a:ext uri="{FF2B5EF4-FFF2-40B4-BE49-F238E27FC236}">
                <a16:creationId xmlns:a16="http://schemas.microsoft.com/office/drawing/2014/main" id="{514E96C4-A69E-DFA7-67B7-7FE05F08D6AD}"/>
              </a:ext>
            </a:extLst>
          </p:cNvPr>
          <p:cNvSpPr/>
          <p:nvPr/>
        </p:nvSpPr>
        <p:spPr>
          <a:xfrm>
            <a:off x="508000" y="24130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AF9A3D2B-6CF5-3754-7CA4-FB6F285DF2C0}"/>
              </a:ext>
            </a:extLst>
          </p:cNvPr>
          <p:cNvSpPr txBox="1"/>
          <p:nvPr/>
        </p:nvSpPr>
        <p:spPr>
          <a:xfrm>
            <a:off x="736600" y="23114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1961, la qualité, l'atelier, l'étanchéité et les grands noms sont visibles tout de suite.</a:t>
            </a:r>
          </a:p>
        </p:txBody>
      </p:sp>
      <p:sp>
        <p:nvSpPr>
          <p:cNvPr id="10" name="Ellipse 9">
            <a:extLst>
              <a:ext uri="{FF2B5EF4-FFF2-40B4-BE49-F238E27FC236}">
                <a16:creationId xmlns:a16="http://schemas.microsoft.com/office/drawing/2014/main" id="{AEC6533F-71FD-B979-968E-BB18835FEB3A}"/>
              </a:ext>
            </a:extLst>
          </p:cNvPr>
          <p:cNvSpPr/>
          <p:nvPr/>
        </p:nvSpPr>
        <p:spPr>
          <a:xfrm>
            <a:off x="508000" y="29972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B63D362B-AF92-4B85-F5EF-1B6795A5D5D5}"/>
              </a:ext>
            </a:extLst>
          </p:cNvPr>
          <p:cNvSpPr txBox="1"/>
          <p:nvPr/>
        </p:nvSpPr>
        <p:spPr>
          <a:xfrm>
            <a:off x="736600" y="28956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Sur chaque page, un court message suffit : le besoin, le métier, l'e-mail.</a:t>
            </a:r>
          </a:p>
        </p:txBody>
      </p:sp>
      <p:sp>
        <p:nvSpPr>
          <p:cNvPr id="12" name="Ellipse 11">
            <a:extLst>
              <a:ext uri="{FF2B5EF4-FFF2-40B4-BE49-F238E27FC236}">
                <a16:creationId xmlns:a16="http://schemas.microsoft.com/office/drawing/2014/main" id="{6C7F6533-B98A-77BA-9CD2-C009B968DAB8}"/>
              </a:ext>
            </a:extLst>
          </p:cNvPr>
          <p:cNvSpPr/>
          <p:nvPr/>
        </p:nvSpPr>
        <p:spPr>
          <a:xfrm>
            <a:off x="508000" y="35814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81DFBF4A-7411-F747-0BC1-22D5BD802991}"/>
              </a:ext>
            </a:extLst>
          </p:cNvPr>
          <p:cNvSpPr txBox="1"/>
          <p:nvPr/>
        </p:nvSpPr>
        <p:spPr>
          <a:xfrm>
            <a:off x="736600" y="34798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Les anciennes adresses continuent de fonctionner. Personne ne tombe sur une erreur.</a:t>
            </a:r>
          </a:p>
        </p:txBody>
      </p:sp>
    </p:spTree>
    <p:extLst>
      <p:ext uri="{BB962C8B-B14F-4D97-AF65-F5344CB8AC3E}">
        <p14:creationId xmlns:p14="http://schemas.microsoft.com/office/powerpoint/2010/main" val="3031600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DD4379-2147-CB9A-DA68-BE745C6938E7}"/>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4738E3BB-DC0A-ECCB-2F9B-4346B12CADE3}"/>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Trois façons d'entrer, au lieu d'une seule</a:t>
            </a:r>
          </a:p>
        </p:txBody>
      </p:sp>
      <p:sp>
        <p:nvSpPr>
          <p:cNvPr id="4" name="Rectangle 3">
            <a:extLst>
              <a:ext uri="{FF2B5EF4-FFF2-40B4-BE49-F238E27FC236}">
                <a16:creationId xmlns:a16="http://schemas.microsoft.com/office/drawing/2014/main" id="{67C8B0F7-913C-8399-9503-FA9A44965343}"/>
              </a:ext>
            </a:extLst>
          </p:cNvPr>
          <p:cNvSpPr/>
          <p:nvPr/>
        </p:nvSpPr>
        <p:spPr>
          <a:xfrm>
            <a:off x="457200" y="1397000"/>
            <a:ext cx="3556000" cy="4064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9829DFCA-8457-7B84-2D06-29AB8CF5BFE9}"/>
              </a:ext>
            </a:extLst>
          </p:cNvPr>
          <p:cNvSpPr/>
          <p:nvPr/>
        </p:nvSpPr>
        <p:spPr>
          <a:xfrm>
            <a:off x="457200" y="1397000"/>
            <a:ext cx="3556000" cy="1016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B40F2C11-6C33-472E-EFF6-583C93A785A0}"/>
              </a:ext>
            </a:extLst>
          </p:cNvPr>
          <p:cNvSpPr txBox="1"/>
          <p:nvPr/>
        </p:nvSpPr>
        <p:spPr>
          <a:xfrm>
            <a:off x="685800" y="1778000"/>
            <a:ext cx="3098800" cy="430887"/>
          </a:xfrm>
          <a:prstGeom prst="rect">
            <a:avLst/>
          </a:prstGeom>
          <a:noFill/>
        </p:spPr>
        <p:txBody>
          <a:bodyPr vert="horz" wrap="square" rtlCol="0">
            <a:noAutofit/>
          </a:bodyPr>
          <a:lstStyle/>
          <a:p>
            <a:r>
              <a:rPr lang="fr-FR" sz="2200" b="1">
                <a:solidFill>
                  <a:srgbClr val="1C1C1C"/>
                </a:solidFill>
                <a:latin typeface="Calibri" panose="020F0502020204030204" pitchFamily="34" charset="0"/>
              </a:rPr>
              <a:t>Son besoin</a:t>
            </a:r>
          </a:p>
        </p:txBody>
      </p:sp>
      <p:sp>
        <p:nvSpPr>
          <p:cNvPr id="7" name="ZoneTexte 6">
            <a:extLst>
              <a:ext uri="{FF2B5EF4-FFF2-40B4-BE49-F238E27FC236}">
                <a16:creationId xmlns:a16="http://schemas.microsoft.com/office/drawing/2014/main" id="{3F09AE0F-2FD6-F6AA-3A43-751BE8781A9B}"/>
              </a:ext>
            </a:extLst>
          </p:cNvPr>
          <p:cNvSpPr txBox="1"/>
          <p:nvPr/>
        </p:nvSpPr>
        <p:spPr>
          <a:xfrm>
            <a:off x="685800" y="2540000"/>
            <a:ext cx="3098800" cy="923330"/>
          </a:xfrm>
          <a:prstGeom prst="rect">
            <a:avLst/>
          </a:prstGeom>
          <a:noFill/>
        </p:spPr>
        <p:txBody>
          <a:bodyPr vert="horz" wrap="square" rtlCol="0">
            <a:noAutofit/>
          </a:bodyPr>
          <a:lstStyle/>
          <a:p>
            <a:r>
              <a:rPr lang="fr-FR">
                <a:solidFill>
                  <a:srgbClr val="5A5A5A"/>
                </a:solidFill>
                <a:latin typeface="Calibri" panose="020F0502020204030204" pitchFamily="34" charset="0"/>
              </a:rPr>
              <a:t>J'ai une idée.
Mon besoin est déjà décrit.
Je veux passer en série.</a:t>
            </a:r>
          </a:p>
        </p:txBody>
      </p:sp>
      <p:sp>
        <p:nvSpPr>
          <p:cNvPr id="8" name="Rectangle 7">
            <a:extLst>
              <a:ext uri="{FF2B5EF4-FFF2-40B4-BE49-F238E27FC236}">
                <a16:creationId xmlns:a16="http://schemas.microsoft.com/office/drawing/2014/main" id="{AF82B577-EA8E-F0CA-A6ED-E9474E1E0821}"/>
              </a:ext>
            </a:extLst>
          </p:cNvPr>
          <p:cNvSpPr/>
          <p:nvPr/>
        </p:nvSpPr>
        <p:spPr>
          <a:xfrm>
            <a:off x="4267200" y="1397000"/>
            <a:ext cx="3556000" cy="4064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D0EF5AAB-234F-79FC-862A-74F68D99CA2A}"/>
              </a:ext>
            </a:extLst>
          </p:cNvPr>
          <p:cNvSpPr/>
          <p:nvPr/>
        </p:nvSpPr>
        <p:spPr>
          <a:xfrm>
            <a:off x="4267200" y="1397000"/>
            <a:ext cx="3556000" cy="1016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335CB198-51F3-F741-D15E-F8881CDACA1A}"/>
              </a:ext>
            </a:extLst>
          </p:cNvPr>
          <p:cNvSpPr txBox="1"/>
          <p:nvPr/>
        </p:nvSpPr>
        <p:spPr>
          <a:xfrm>
            <a:off x="4495800" y="1778000"/>
            <a:ext cx="3098800" cy="430887"/>
          </a:xfrm>
          <a:prstGeom prst="rect">
            <a:avLst/>
          </a:prstGeom>
          <a:noFill/>
        </p:spPr>
        <p:txBody>
          <a:bodyPr vert="horz" wrap="square" rtlCol="0">
            <a:noAutofit/>
          </a:bodyPr>
          <a:lstStyle/>
          <a:p>
            <a:r>
              <a:rPr lang="fr-FR" sz="2200" b="1">
                <a:solidFill>
                  <a:srgbClr val="1C1C1C"/>
                </a:solidFill>
                <a:latin typeface="Calibri" panose="020F0502020204030204" pitchFamily="34" charset="0"/>
              </a:rPr>
              <a:t>Son métier</a:t>
            </a:r>
          </a:p>
        </p:txBody>
      </p:sp>
      <p:sp>
        <p:nvSpPr>
          <p:cNvPr id="11" name="ZoneTexte 10">
            <a:extLst>
              <a:ext uri="{FF2B5EF4-FFF2-40B4-BE49-F238E27FC236}">
                <a16:creationId xmlns:a16="http://schemas.microsoft.com/office/drawing/2014/main" id="{6B59BEC8-39E0-6BE4-E3CC-18D8F30F8BED}"/>
              </a:ext>
            </a:extLst>
          </p:cNvPr>
          <p:cNvSpPr txBox="1"/>
          <p:nvPr/>
        </p:nvSpPr>
        <p:spPr>
          <a:xfrm>
            <a:off x="4495800" y="2540000"/>
            <a:ext cx="3098800" cy="923330"/>
          </a:xfrm>
          <a:prstGeom prst="rect">
            <a:avLst/>
          </a:prstGeom>
          <a:noFill/>
        </p:spPr>
        <p:txBody>
          <a:bodyPr vert="horz" wrap="square" rtlCol="0">
            <a:noAutofit/>
          </a:bodyPr>
          <a:lstStyle/>
          <a:p>
            <a:r>
              <a:rPr lang="fr-FR">
                <a:solidFill>
                  <a:srgbClr val="5A5A5A"/>
                </a:solidFill>
                <a:latin typeface="Calibri" panose="020F0502020204030204" pitchFamily="34" charset="0"/>
              </a:rPr>
              <a:t>Médical, aéronautique,
automobile, luxe,
vins, électronique...</a:t>
            </a:r>
          </a:p>
        </p:txBody>
      </p:sp>
      <p:sp>
        <p:nvSpPr>
          <p:cNvPr id="12" name="Rectangle 11">
            <a:extLst>
              <a:ext uri="{FF2B5EF4-FFF2-40B4-BE49-F238E27FC236}">
                <a16:creationId xmlns:a16="http://schemas.microsoft.com/office/drawing/2014/main" id="{D21EC0CA-4856-25E3-9973-45C88FFB1F6F}"/>
              </a:ext>
            </a:extLst>
          </p:cNvPr>
          <p:cNvSpPr/>
          <p:nvPr/>
        </p:nvSpPr>
        <p:spPr>
          <a:xfrm>
            <a:off x="8077200" y="1397000"/>
            <a:ext cx="3556000" cy="4064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86DDAAD1-8B75-188D-919B-9046494BE5DF}"/>
              </a:ext>
            </a:extLst>
          </p:cNvPr>
          <p:cNvSpPr/>
          <p:nvPr/>
        </p:nvSpPr>
        <p:spPr>
          <a:xfrm>
            <a:off x="8077200" y="1397000"/>
            <a:ext cx="3556000" cy="1016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B5C8619B-15BC-F39D-3237-3533BA362311}"/>
              </a:ext>
            </a:extLst>
          </p:cNvPr>
          <p:cNvSpPr txBox="1"/>
          <p:nvPr/>
        </p:nvSpPr>
        <p:spPr>
          <a:xfrm>
            <a:off x="8305800" y="1778000"/>
            <a:ext cx="3098800" cy="430887"/>
          </a:xfrm>
          <a:prstGeom prst="rect">
            <a:avLst/>
          </a:prstGeom>
          <a:noFill/>
        </p:spPr>
        <p:txBody>
          <a:bodyPr vert="horz" wrap="square" rtlCol="0">
            <a:noAutofit/>
          </a:bodyPr>
          <a:lstStyle/>
          <a:p>
            <a:r>
              <a:rPr lang="fr-FR" sz="2200" b="1">
                <a:solidFill>
                  <a:srgbClr val="1C1C1C"/>
                </a:solidFill>
                <a:latin typeface="Calibri" panose="020F0502020204030204" pitchFamily="34" charset="0"/>
              </a:rPr>
              <a:t>Le produit</a:t>
            </a:r>
          </a:p>
        </p:txBody>
      </p:sp>
      <p:sp>
        <p:nvSpPr>
          <p:cNvPr id="15" name="ZoneTexte 14">
            <a:extLst>
              <a:ext uri="{FF2B5EF4-FFF2-40B4-BE49-F238E27FC236}">
                <a16:creationId xmlns:a16="http://schemas.microsoft.com/office/drawing/2014/main" id="{DD810B4F-0418-F18B-A6FA-B96231AA0E72}"/>
              </a:ext>
            </a:extLst>
          </p:cNvPr>
          <p:cNvSpPr txBox="1"/>
          <p:nvPr/>
        </p:nvSpPr>
        <p:spPr>
          <a:xfrm>
            <a:off x="8305800" y="2540000"/>
            <a:ext cx="3098800" cy="923330"/>
          </a:xfrm>
          <a:prstGeom prst="rect">
            <a:avLst/>
          </a:prstGeom>
          <a:noFill/>
        </p:spPr>
        <p:txBody>
          <a:bodyPr vert="horz" wrap="square" rtlCol="0">
            <a:noAutofit/>
          </a:bodyPr>
          <a:lstStyle/>
          <a:p>
            <a:r>
              <a:rPr lang="fr-FR">
                <a:solidFill>
                  <a:srgbClr val="5A5A5A"/>
                </a:solidFill>
                <a:latin typeface="Calibri" panose="020F0502020204030204" pitchFamily="34" charset="0"/>
              </a:rPr>
              <a:t>Clavier, circuit,
face avant, étiquette,
présentoir. Déjà en ligne.</a:t>
            </a:r>
          </a:p>
        </p:txBody>
      </p:sp>
    </p:spTree>
    <p:extLst>
      <p:ext uri="{BB962C8B-B14F-4D97-AF65-F5344CB8AC3E}">
        <p14:creationId xmlns:p14="http://schemas.microsoft.com/office/powerpoint/2010/main" val="17474234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0F6BBE-6E62-D978-CFC8-A7C6E913F848}"/>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F86B4FA4-CEF1-6E6E-2109-93871E40D1D5}"/>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Le même visiteur, avant et après</a:t>
            </a:r>
          </a:p>
        </p:txBody>
      </p:sp>
      <p:sp>
        <p:nvSpPr>
          <p:cNvPr id="4" name="Rectangle 3">
            <a:extLst>
              <a:ext uri="{FF2B5EF4-FFF2-40B4-BE49-F238E27FC236}">
                <a16:creationId xmlns:a16="http://schemas.microsoft.com/office/drawing/2014/main" id="{190D19DC-BDD6-F987-F859-97940C69580A}"/>
              </a:ext>
            </a:extLst>
          </p:cNvPr>
          <p:cNvSpPr/>
          <p:nvPr/>
        </p:nvSpPr>
        <p:spPr>
          <a:xfrm>
            <a:off x="457200" y="1270000"/>
            <a:ext cx="5461000" cy="4572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73FBE118-5EED-0DDF-9C85-C5B3EAF7BB58}"/>
              </a:ext>
            </a:extLst>
          </p:cNvPr>
          <p:cNvSpPr/>
          <p:nvPr/>
        </p:nvSpPr>
        <p:spPr>
          <a:xfrm>
            <a:off x="6223000" y="1270000"/>
            <a:ext cx="5461000" cy="4572000"/>
          </a:xfrm>
          <a:prstGeom prst="rect">
            <a:avLst/>
          </a:prstGeom>
          <a:solidFill>
            <a:srgbClr val="F3E8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4498265E-525E-7392-D085-AB26E5D7375D}"/>
              </a:ext>
            </a:extLst>
          </p:cNvPr>
          <p:cNvSpPr txBox="1"/>
          <p:nvPr/>
        </p:nvSpPr>
        <p:spPr>
          <a:xfrm>
            <a:off x="660400" y="1473200"/>
            <a:ext cx="5080000" cy="400110"/>
          </a:xfrm>
          <a:prstGeom prst="rect">
            <a:avLst/>
          </a:prstGeom>
          <a:noFill/>
        </p:spPr>
        <p:txBody>
          <a:bodyPr vert="horz" wrap="square" rtlCol="0">
            <a:noAutofit/>
          </a:bodyPr>
          <a:lstStyle/>
          <a:p>
            <a:r>
              <a:rPr lang="fr-FR" sz="2000" b="1">
                <a:solidFill>
                  <a:srgbClr val="5A5A5A"/>
                </a:solidFill>
                <a:latin typeface="Calibri" panose="020F0502020204030204" pitchFamily="34" charset="0"/>
              </a:rPr>
              <a:t>Aujourd'hui</a:t>
            </a:r>
          </a:p>
        </p:txBody>
      </p:sp>
      <p:sp>
        <p:nvSpPr>
          <p:cNvPr id="7" name="ZoneTexte 6">
            <a:extLst>
              <a:ext uri="{FF2B5EF4-FFF2-40B4-BE49-F238E27FC236}">
                <a16:creationId xmlns:a16="http://schemas.microsoft.com/office/drawing/2014/main" id="{54F43607-B8E8-E661-01B1-A6CAFDDC032D}"/>
              </a:ext>
            </a:extLst>
          </p:cNvPr>
          <p:cNvSpPr txBox="1"/>
          <p:nvPr/>
        </p:nvSpPr>
        <p:spPr>
          <a:xfrm>
            <a:off x="6426200" y="1473200"/>
            <a:ext cx="5080000" cy="400110"/>
          </a:xfrm>
          <a:prstGeom prst="rect">
            <a:avLst/>
          </a:prstGeom>
          <a:noFill/>
        </p:spPr>
        <p:txBody>
          <a:bodyPr vert="horz" wrap="square" rtlCol="0">
            <a:noAutofit/>
          </a:bodyPr>
          <a:lstStyle/>
          <a:p>
            <a:r>
              <a:rPr lang="fr-FR" sz="2000" b="1">
                <a:solidFill>
                  <a:srgbClr val="970232"/>
                </a:solidFill>
                <a:latin typeface="Calibri" panose="020F0502020204030204" pitchFamily="34" charset="0"/>
              </a:rPr>
              <a:t>Demain</a:t>
            </a:r>
          </a:p>
        </p:txBody>
      </p:sp>
      <p:sp>
        <p:nvSpPr>
          <p:cNvPr id="8" name="ZoneTexte 7">
            <a:extLst>
              <a:ext uri="{FF2B5EF4-FFF2-40B4-BE49-F238E27FC236}">
                <a16:creationId xmlns:a16="http://schemas.microsoft.com/office/drawing/2014/main" id="{3354E27E-3F4A-0585-C37D-14F97565B1C8}"/>
              </a:ext>
            </a:extLst>
          </p:cNvPr>
          <p:cNvSpPr txBox="1"/>
          <p:nvPr/>
        </p:nvSpPr>
        <p:spPr>
          <a:xfrm>
            <a:off x="660400" y="2032000"/>
            <a:ext cx="4953000" cy="1815882"/>
          </a:xfrm>
          <a:prstGeom prst="rect">
            <a:avLst/>
          </a:prstGeom>
          <a:noFill/>
        </p:spPr>
        <p:txBody>
          <a:bodyPr vert="horz" wrap="square" rtlCol="0">
            <a:noAutofit/>
          </a:bodyPr>
          <a:lstStyle/>
          <a:p>
            <a:r>
              <a:rPr lang="fr-FR" sz="1600">
                <a:solidFill>
                  <a:srgbClr val="1C1C1C"/>
                </a:solidFill>
                <a:latin typeface="Calibri" panose="020F0502020204030204" pitchFamily="34" charset="0"/>
              </a:rPr>
              <a:t>Il cherche « clavier pour le médical ».
Il arrive sur une liste de technologies.
Il ne voit pas si PIM connaît son métier.
Le contact est loin, et le formulaire est long.</a:t>
            </a:r>
          </a:p>
        </p:txBody>
      </p:sp>
      <p:sp>
        <p:nvSpPr>
          <p:cNvPr id="9" name="ZoneTexte 8">
            <a:extLst>
              <a:ext uri="{FF2B5EF4-FFF2-40B4-BE49-F238E27FC236}">
                <a16:creationId xmlns:a16="http://schemas.microsoft.com/office/drawing/2014/main" id="{FA415604-B01A-0022-1D29-4E464D71A533}"/>
              </a:ext>
            </a:extLst>
          </p:cNvPr>
          <p:cNvSpPr txBox="1"/>
          <p:nvPr/>
        </p:nvSpPr>
        <p:spPr>
          <a:xfrm>
            <a:off x="6426200" y="2032000"/>
            <a:ext cx="4953000" cy="1815882"/>
          </a:xfrm>
          <a:prstGeom prst="rect">
            <a:avLst/>
          </a:prstGeom>
          <a:noFill/>
        </p:spPr>
        <p:txBody>
          <a:bodyPr vert="horz" wrap="square" rtlCol="0">
            <a:noAutofit/>
          </a:bodyPr>
          <a:lstStyle/>
          <a:p>
            <a:r>
              <a:rPr lang="fr-FR" sz="1600">
                <a:solidFill>
                  <a:srgbClr val="1C1C1C"/>
                </a:solidFill>
                <a:latin typeface="Calibri" panose="020F0502020204030204" pitchFamily="34" charset="0"/>
              </a:rPr>
              <a:t>Il arrive sur une page Industrie médicale.
Il lit ce que PIM sait faire, et voit les claviers adaptés.
Il voit la qualité et l'atelier.
Il écrit son besoin en quelques lignes.</a:t>
            </a:r>
          </a:p>
        </p:txBody>
      </p:sp>
    </p:spTree>
    <p:extLst>
      <p:ext uri="{BB962C8B-B14F-4D97-AF65-F5344CB8AC3E}">
        <p14:creationId xmlns:p14="http://schemas.microsoft.com/office/powerpoint/2010/main" val="2042988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8697CD-627B-AE79-2BB0-D784FA0D0AE3}"/>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848EBFFE-CA2D-7479-8EA3-57586EF8FB8A}"/>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Les adresses déjà connues ne bougent pas</a:t>
            </a:r>
          </a:p>
        </p:txBody>
      </p:sp>
      <p:sp>
        <p:nvSpPr>
          <p:cNvPr id="4" name="ZoneTexte 3">
            <a:extLst>
              <a:ext uri="{FF2B5EF4-FFF2-40B4-BE49-F238E27FC236}">
                <a16:creationId xmlns:a16="http://schemas.microsoft.com/office/drawing/2014/main" id="{E451C16B-CB88-244B-5C1D-B3861D760437}"/>
              </a:ext>
            </a:extLst>
          </p:cNvPr>
          <p:cNvSpPr txBox="1"/>
          <p:nvPr/>
        </p:nvSpPr>
        <p:spPr>
          <a:xfrm>
            <a:off x="457200" y="914400"/>
            <a:ext cx="11176000" cy="323165"/>
          </a:xfrm>
          <a:prstGeom prst="rect">
            <a:avLst/>
          </a:prstGeom>
          <a:noFill/>
        </p:spPr>
        <p:txBody>
          <a:bodyPr vert="horz" wrap="square" rtlCol="0">
            <a:noAutofit/>
          </a:bodyPr>
          <a:lstStyle/>
          <a:p>
            <a:r>
              <a:rPr lang="fr-FR" sz="1500">
                <a:solidFill>
                  <a:srgbClr val="5A5A5A"/>
                </a:solidFill>
                <a:latin typeface="Calibri" panose="020F0502020204030204" pitchFamily="34" charset="0"/>
              </a:rPr>
              <a:t>Google connaît déjà ces pages. Les changer ferait perdre des visiteurs. On les garde.</a:t>
            </a:r>
          </a:p>
        </p:txBody>
      </p:sp>
      <p:sp>
        <p:nvSpPr>
          <p:cNvPr id="5" name="Rectangle 4">
            <a:extLst>
              <a:ext uri="{FF2B5EF4-FFF2-40B4-BE49-F238E27FC236}">
                <a16:creationId xmlns:a16="http://schemas.microsoft.com/office/drawing/2014/main" id="{0F9EE043-F1F6-9560-973E-C3A324F33BFB}"/>
              </a:ext>
            </a:extLst>
          </p:cNvPr>
          <p:cNvSpPr/>
          <p:nvPr/>
        </p:nvSpPr>
        <p:spPr>
          <a:xfrm>
            <a:off x="457200" y="1524000"/>
            <a:ext cx="11277600" cy="990600"/>
          </a:xfrm>
          <a:prstGeom prst="rect">
            <a:avLst/>
          </a:prstGeom>
          <a:solidFill>
            <a:srgbClr val="E2F2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924169E5-AA0E-DA73-4E13-AD8B1231355D}"/>
              </a:ext>
            </a:extLst>
          </p:cNvPr>
          <p:cNvSpPr txBox="1"/>
          <p:nvPr/>
        </p:nvSpPr>
        <p:spPr>
          <a:xfrm>
            <a:off x="660400" y="1625600"/>
            <a:ext cx="5080000" cy="338554"/>
          </a:xfrm>
          <a:prstGeom prst="rect">
            <a:avLst/>
          </a:prstGeom>
          <a:noFill/>
        </p:spPr>
        <p:txBody>
          <a:bodyPr vert="horz" wrap="square" rtlCol="0">
            <a:noAutofit/>
          </a:bodyPr>
          <a:lstStyle/>
          <a:p>
            <a:r>
              <a:rPr lang="fr-FR" sz="1600" b="1">
                <a:solidFill>
                  <a:srgbClr val="1C1C1C"/>
                </a:solidFill>
                <a:latin typeface="Calibri" panose="020F0502020204030204" pitchFamily="34" charset="0"/>
              </a:rPr>
              <a:t>Clavier à membrane</a:t>
            </a:r>
          </a:p>
        </p:txBody>
      </p:sp>
      <p:sp>
        <p:nvSpPr>
          <p:cNvPr id="7" name="ZoneTexte 6">
            <a:extLst>
              <a:ext uri="{FF2B5EF4-FFF2-40B4-BE49-F238E27FC236}">
                <a16:creationId xmlns:a16="http://schemas.microsoft.com/office/drawing/2014/main" id="{E41D59D8-A80D-DE06-B359-021EE801A612}"/>
              </a:ext>
            </a:extLst>
          </p:cNvPr>
          <p:cNvSpPr txBox="1"/>
          <p:nvPr/>
        </p:nvSpPr>
        <p:spPr>
          <a:xfrm>
            <a:off x="660400" y="1981200"/>
            <a:ext cx="10795000" cy="307777"/>
          </a:xfrm>
          <a:prstGeom prst="rect">
            <a:avLst/>
          </a:prstGeom>
          <a:noFill/>
        </p:spPr>
        <p:txBody>
          <a:bodyPr vert="horz" wrap="square" rtlCol="0">
            <a:noAutofit/>
          </a:bodyPr>
          <a:lstStyle/>
          <a:p>
            <a:r>
              <a:rPr lang="fr-FR" sz="1400">
                <a:solidFill>
                  <a:srgbClr val="5A5A5A"/>
                </a:solidFill>
                <a:latin typeface="Calibri" panose="020F0502020204030204" pitchFamily="34" charset="0"/>
              </a:rPr>
              <a:t>www.pim-industrie.com/industrie/clavier-a-membrane</a:t>
            </a:r>
          </a:p>
        </p:txBody>
      </p:sp>
      <p:sp>
        <p:nvSpPr>
          <p:cNvPr id="8" name="Rectangle 7">
            <a:extLst>
              <a:ext uri="{FF2B5EF4-FFF2-40B4-BE49-F238E27FC236}">
                <a16:creationId xmlns:a16="http://schemas.microsoft.com/office/drawing/2014/main" id="{4ADB9785-A787-E252-EDDA-827DC8DE4D99}"/>
              </a:ext>
            </a:extLst>
          </p:cNvPr>
          <p:cNvSpPr/>
          <p:nvPr/>
        </p:nvSpPr>
        <p:spPr>
          <a:xfrm>
            <a:off x="457200" y="2641600"/>
            <a:ext cx="11277600" cy="990600"/>
          </a:xfrm>
          <a:prstGeom prst="rect">
            <a:avLst/>
          </a:prstGeom>
          <a:solidFill>
            <a:srgbClr val="E2F2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22AB595B-AB93-30DD-3C88-5A76862F95F2}"/>
              </a:ext>
            </a:extLst>
          </p:cNvPr>
          <p:cNvSpPr txBox="1"/>
          <p:nvPr/>
        </p:nvSpPr>
        <p:spPr>
          <a:xfrm>
            <a:off x="660400" y="2743200"/>
            <a:ext cx="5080000" cy="338554"/>
          </a:xfrm>
          <a:prstGeom prst="rect">
            <a:avLst/>
          </a:prstGeom>
          <a:noFill/>
        </p:spPr>
        <p:txBody>
          <a:bodyPr vert="horz" wrap="square" rtlCol="0">
            <a:noAutofit/>
          </a:bodyPr>
          <a:lstStyle/>
          <a:p>
            <a:r>
              <a:rPr lang="fr-FR" sz="1600" b="1">
                <a:solidFill>
                  <a:srgbClr val="1C1C1C"/>
                </a:solidFill>
                <a:latin typeface="Calibri" panose="020F0502020204030204" pitchFamily="34" charset="0"/>
              </a:rPr>
              <a:t>Étiquettes vins et spiritueux</a:t>
            </a:r>
          </a:p>
        </p:txBody>
      </p:sp>
      <p:sp>
        <p:nvSpPr>
          <p:cNvPr id="10" name="ZoneTexte 9">
            <a:extLst>
              <a:ext uri="{FF2B5EF4-FFF2-40B4-BE49-F238E27FC236}">
                <a16:creationId xmlns:a16="http://schemas.microsoft.com/office/drawing/2014/main" id="{9384BB88-E28C-5231-BBA9-F6513D7EC25B}"/>
              </a:ext>
            </a:extLst>
          </p:cNvPr>
          <p:cNvSpPr txBox="1"/>
          <p:nvPr/>
        </p:nvSpPr>
        <p:spPr>
          <a:xfrm>
            <a:off x="660400" y="3098800"/>
            <a:ext cx="10795000" cy="307777"/>
          </a:xfrm>
          <a:prstGeom prst="rect">
            <a:avLst/>
          </a:prstGeom>
          <a:noFill/>
        </p:spPr>
        <p:txBody>
          <a:bodyPr vert="horz" wrap="square" rtlCol="0">
            <a:noAutofit/>
          </a:bodyPr>
          <a:lstStyle/>
          <a:p>
            <a:r>
              <a:rPr lang="fr-FR" sz="1400">
                <a:solidFill>
                  <a:srgbClr val="5A5A5A"/>
                </a:solidFill>
                <a:latin typeface="Calibri" panose="020F0502020204030204" pitchFamily="34" charset="0"/>
              </a:rPr>
              <a:t>www.pim-industrie.com/decoration/etiquette-personnalisable/etiquette-vins-spiritueux</a:t>
            </a:r>
          </a:p>
        </p:txBody>
      </p:sp>
      <p:sp>
        <p:nvSpPr>
          <p:cNvPr id="11" name="Rectangle 10">
            <a:extLst>
              <a:ext uri="{FF2B5EF4-FFF2-40B4-BE49-F238E27FC236}">
                <a16:creationId xmlns:a16="http://schemas.microsoft.com/office/drawing/2014/main" id="{A550F732-D78A-4883-217A-940F3D5E1E3C}"/>
              </a:ext>
            </a:extLst>
          </p:cNvPr>
          <p:cNvSpPr/>
          <p:nvPr/>
        </p:nvSpPr>
        <p:spPr>
          <a:xfrm>
            <a:off x="457200" y="3759200"/>
            <a:ext cx="11277600" cy="990600"/>
          </a:xfrm>
          <a:prstGeom prst="rect">
            <a:avLst/>
          </a:prstGeom>
          <a:solidFill>
            <a:srgbClr val="E2F2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87067A78-DF5F-BA9B-5606-84C40BE9EBD4}"/>
              </a:ext>
            </a:extLst>
          </p:cNvPr>
          <p:cNvSpPr txBox="1"/>
          <p:nvPr/>
        </p:nvSpPr>
        <p:spPr>
          <a:xfrm>
            <a:off x="660400" y="3860800"/>
            <a:ext cx="5080000" cy="338554"/>
          </a:xfrm>
          <a:prstGeom prst="rect">
            <a:avLst/>
          </a:prstGeom>
          <a:noFill/>
        </p:spPr>
        <p:txBody>
          <a:bodyPr vert="horz" wrap="square" rtlCol="0">
            <a:noAutofit/>
          </a:bodyPr>
          <a:lstStyle/>
          <a:p>
            <a:r>
              <a:rPr lang="fr-FR" sz="1600" b="1">
                <a:solidFill>
                  <a:srgbClr val="1C1C1C"/>
                </a:solidFill>
                <a:latin typeface="Calibri" panose="020F0502020204030204" pitchFamily="34" charset="0"/>
              </a:rPr>
              <a:t>Contact</a:t>
            </a:r>
          </a:p>
        </p:txBody>
      </p:sp>
      <p:sp>
        <p:nvSpPr>
          <p:cNvPr id="13" name="ZoneTexte 12">
            <a:extLst>
              <a:ext uri="{FF2B5EF4-FFF2-40B4-BE49-F238E27FC236}">
                <a16:creationId xmlns:a16="http://schemas.microsoft.com/office/drawing/2014/main" id="{F2C4F3BC-F024-0526-B785-C67EB0B9D4A3}"/>
              </a:ext>
            </a:extLst>
          </p:cNvPr>
          <p:cNvSpPr txBox="1"/>
          <p:nvPr/>
        </p:nvSpPr>
        <p:spPr>
          <a:xfrm>
            <a:off x="660400" y="4216400"/>
            <a:ext cx="10795000" cy="307777"/>
          </a:xfrm>
          <a:prstGeom prst="rect">
            <a:avLst/>
          </a:prstGeom>
          <a:noFill/>
        </p:spPr>
        <p:txBody>
          <a:bodyPr vert="horz" wrap="square" rtlCol="0">
            <a:noAutofit/>
          </a:bodyPr>
          <a:lstStyle/>
          <a:p>
            <a:r>
              <a:rPr lang="fr-FR" sz="1400">
                <a:solidFill>
                  <a:srgbClr val="5A5A5A"/>
                </a:solidFill>
                <a:latin typeface="Calibri" panose="020F0502020204030204" pitchFamily="34" charset="0"/>
              </a:rPr>
              <a:t>www.pim-industrie.com/contact</a:t>
            </a:r>
          </a:p>
        </p:txBody>
      </p:sp>
      <p:sp>
        <p:nvSpPr>
          <p:cNvPr id="14" name="Rectangle 13">
            <a:extLst>
              <a:ext uri="{FF2B5EF4-FFF2-40B4-BE49-F238E27FC236}">
                <a16:creationId xmlns:a16="http://schemas.microsoft.com/office/drawing/2014/main" id="{83CCA2E3-99FA-5996-E267-04063AAFC2BF}"/>
              </a:ext>
            </a:extLst>
          </p:cNvPr>
          <p:cNvSpPr/>
          <p:nvPr/>
        </p:nvSpPr>
        <p:spPr>
          <a:xfrm>
            <a:off x="457200" y="4876800"/>
            <a:ext cx="11277600" cy="990600"/>
          </a:xfrm>
          <a:prstGeom prst="rect">
            <a:avLst/>
          </a:prstGeom>
          <a:solidFill>
            <a:srgbClr val="E2F2E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422E0E2A-2167-32A9-E4AB-785FEB9DF0D2}"/>
              </a:ext>
            </a:extLst>
          </p:cNvPr>
          <p:cNvSpPr txBox="1"/>
          <p:nvPr/>
        </p:nvSpPr>
        <p:spPr>
          <a:xfrm>
            <a:off x="660400" y="4978400"/>
            <a:ext cx="5080000" cy="338554"/>
          </a:xfrm>
          <a:prstGeom prst="rect">
            <a:avLst/>
          </a:prstGeom>
          <a:noFill/>
        </p:spPr>
        <p:txBody>
          <a:bodyPr vert="horz" wrap="square" rtlCol="0">
            <a:noAutofit/>
          </a:bodyPr>
          <a:lstStyle/>
          <a:p>
            <a:r>
              <a:rPr lang="fr-FR" sz="1600" b="1">
                <a:solidFill>
                  <a:srgbClr val="1C1C1C"/>
                </a:solidFill>
                <a:latin typeface="Calibri" panose="020F0502020204030204" pitchFamily="34" charset="0"/>
              </a:rPr>
              <a:t>Qui sommes-nous</a:t>
            </a:r>
          </a:p>
        </p:txBody>
      </p:sp>
      <p:sp>
        <p:nvSpPr>
          <p:cNvPr id="16" name="ZoneTexte 15">
            <a:extLst>
              <a:ext uri="{FF2B5EF4-FFF2-40B4-BE49-F238E27FC236}">
                <a16:creationId xmlns:a16="http://schemas.microsoft.com/office/drawing/2014/main" id="{A5C6736F-275C-DAEA-1328-AB91A67CA15C}"/>
              </a:ext>
            </a:extLst>
          </p:cNvPr>
          <p:cNvSpPr txBox="1"/>
          <p:nvPr/>
        </p:nvSpPr>
        <p:spPr>
          <a:xfrm>
            <a:off x="660400" y="5334000"/>
            <a:ext cx="10795000" cy="307777"/>
          </a:xfrm>
          <a:prstGeom prst="rect">
            <a:avLst/>
          </a:prstGeom>
          <a:noFill/>
        </p:spPr>
        <p:txBody>
          <a:bodyPr vert="horz" wrap="square" rtlCol="0">
            <a:noAutofit/>
          </a:bodyPr>
          <a:lstStyle/>
          <a:p>
            <a:r>
              <a:rPr lang="fr-FR" sz="1400">
                <a:solidFill>
                  <a:srgbClr val="5A5A5A"/>
                </a:solidFill>
                <a:latin typeface="Calibri" panose="020F0502020204030204" pitchFamily="34" charset="0"/>
              </a:rPr>
              <a:t>www.pim-industrie.com/qui-sommes-nous</a:t>
            </a:r>
          </a:p>
        </p:txBody>
      </p:sp>
    </p:spTree>
    <p:extLst>
      <p:ext uri="{BB962C8B-B14F-4D97-AF65-F5344CB8AC3E}">
        <p14:creationId xmlns:p14="http://schemas.microsoft.com/office/powerpoint/2010/main" val="3065095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3DAB62F-62BF-A1E2-CD7F-0BDB924E7CDE}"/>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B914B930-4B12-BB38-0E7B-3281E38C34EA}"/>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Les adresses que nous allons créer</a:t>
            </a:r>
          </a:p>
        </p:txBody>
      </p:sp>
      <p:sp>
        <p:nvSpPr>
          <p:cNvPr id="4" name="ZoneTexte 3">
            <a:extLst>
              <a:ext uri="{FF2B5EF4-FFF2-40B4-BE49-F238E27FC236}">
                <a16:creationId xmlns:a16="http://schemas.microsoft.com/office/drawing/2014/main" id="{B5A83A33-73C8-E374-26DC-EC3A1E5B691A}"/>
              </a:ext>
            </a:extLst>
          </p:cNvPr>
          <p:cNvSpPr txBox="1"/>
          <p:nvPr/>
        </p:nvSpPr>
        <p:spPr>
          <a:xfrm>
            <a:off x="457200" y="914400"/>
            <a:ext cx="11176000" cy="323165"/>
          </a:xfrm>
          <a:prstGeom prst="rect">
            <a:avLst/>
          </a:prstGeom>
          <a:noFill/>
        </p:spPr>
        <p:txBody>
          <a:bodyPr vert="horz" wrap="square" rtlCol="0">
            <a:noAutofit/>
          </a:bodyPr>
          <a:lstStyle/>
          <a:p>
            <a:r>
              <a:rPr lang="fr-FR" sz="1500">
                <a:solidFill>
                  <a:srgbClr val="5A5A5A"/>
                </a:solidFill>
                <a:latin typeface="Calibri" panose="020F0502020204030204" pitchFamily="34" charset="0"/>
              </a:rPr>
              <a:t>Elles n'existent pas aujourd'hui. C'est par là que les nouveaux visiteurs arriveront.</a:t>
            </a:r>
          </a:p>
        </p:txBody>
      </p:sp>
      <p:sp>
        <p:nvSpPr>
          <p:cNvPr id="5" name="Rectangle 4">
            <a:extLst>
              <a:ext uri="{FF2B5EF4-FFF2-40B4-BE49-F238E27FC236}">
                <a16:creationId xmlns:a16="http://schemas.microsoft.com/office/drawing/2014/main" id="{980527AB-C3C5-ABFA-3463-7478A913275D}"/>
              </a:ext>
            </a:extLst>
          </p:cNvPr>
          <p:cNvSpPr/>
          <p:nvPr/>
        </p:nvSpPr>
        <p:spPr>
          <a:xfrm>
            <a:off x="457200" y="1498600"/>
            <a:ext cx="5588000" cy="1371600"/>
          </a:xfrm>
          <a:prstGeom prst="rect">
            <a:avLst/>
          </a:prstGeom>
          <a:solidFill>
            <a:srgbClr val="E2EC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FEF780B6-A733-99A6-859A-606027A42C55}"/>
              </a:ext>
            </a:extLst>
          </p:cNvPr>
          <p:cNvSpPr txBox="1"/>
          <p:nvPr/>
        </p:nvSpPr>
        <p:spPr>
          <a:xfrm>
            <a:off x="660400" y="1651000"/>
            <a:ext cx="5181600" cy="369332"/>
          </a:xfrm>
          <a:prstGeom prst="rect">
            <a:avLst/>
          </a:prstGeom>
          <a:noFill/>
        </p:spPr>
        <p:txBody>
          <a:bodyPr vert="horz" wrap="square" rtlCol="0">
            <a:noAutofit/>
          </a:bodyPr>
          <a:lstStyle/>
          <a:p>
            <a:r>
              <a:rPr lang="fr-FR" b="1">
                <a:solidFill>
                  <a:srgbClr val="1C1C1C"/>
                </a:solidFill>
                <a:latin typeface="Calibri" panose="020F0502020204030204" pitchFamily="34" charset="0"/>
              </a:rPr>
              <a:t>J'ai une idée</a:t>
            </a:r>
          </a:p>
        </p:txBody>
      </p:sp>
      <p:sp>
        <p:nvSpPr>
          <p:cNvPr id="7" name="ZoneTexte 6">
            <a:extLst>
              <a:ext uri="{FF2B5EF4-FFF2-40B4-BE49-F238E27FC236}">
                <a16:creationId xmlns:a16="http://schemas.microsoft.com/office/drawing/2014/main" id="{591AB7DF-33D3-E25E-DCB4-14E649A39604}"/>
              </a:ext>
            </a:extLst>
          </p:cNvPr>
          <p:cNvSpPr txBox="1"/>
          <p:nvPr/>
        </p:nvSpPr>
        <p:spPr>
          <a:xfrm>
            <a:off x="660400" y="2108200"/>
            <a:ext cx="5181600" cy="292388"/>
          </a:xfrm>
          <a:prstGeom prst="rect">
            <a:avLst/>
          </a:prstGeom>
          <a:noFill/>
        </p:spPr>
        <p:txBody>
          <a:bodyPr vert="horz" wrap="square" rtlCol="0">
            <a:noAutofit/>
          </a:bodyPr>
          <a:lstStyle/>
          <a:p>
            <a:r>
              <a:rPr lang="fr-FR" sz="1300">
                <a:solidFill>
                  <a:srgbClr val="5A5A5A"/>
                </a:solidFill>
                <a:latin typeface="Calibri" panose="020F0502020204030204" pitchFamily="34" charset="0"/>
              </a:rPr>
              <a:t>www.pim-industrie.com/besoins/j-ai-une-idee</a:t>
            </a:r>
          </a:p>
        </p:txBody>
      </p:sp>
      <p:sp>
        <p:nvSpPr>
          <p:cNvPr id="8" name="Rectangle 7">
            <a:extLst>
              <a:ext uri="{FF2B5EF4-FFF2-40B4-BE49-F238E27FC236}">
                <a16:creationId xmlns:a16="http://schemas.microsoft.com/office/drawing/2014/main" id="{76530E3C-F96F-6CF9-486E-58198E9C819B}"/>
              </a:ext>
            </a:extLst>
          </p:cNvPr>
          <p:cNvSpPr/>
          <p:nvPr/>
        </p:nvSpPr>
        <p:spPr>
          <a:xfrm>
            <a:off x="6299200" y="1498600"/>
            <a:ext cx="5588000" cy="1371600"/>
          </a:xfrm>
          <a:prstGeom prst="rect">
            <a:avLst/>
          </a:prstGeom>
          <a:solidFill>
            <a:srgbClr val="E2EC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B0433E04-D9F2-74B7-AF56-D32B613E32E0}"/>
              </a:ext>
            </a:extLst>
          </p:cNvPr>
          <p:cNvSpPr txBox="1"/>
          <p:nvPr/>
        </p:nvSpPr>
        <p:spPr>
          <a:xfrm>
            <a:off x="6502400" y="1651000"/>
            <a:ext cx="5181600" cy="369332"/>
          </a:xfrm>
          <a:prstGeom prst="rect">
            <a:avLst/>
          </a:prstGeom>
          <a:noFill/>
        </p:spPr>
        <p:txBody>
          <a:bodyPr vert="horz" wrap="square" rtlCol="0">
            <a:noAutofit/>
          </a:bodyPr>
          <a:lstStyle/>
          <a:p>
            <a:r>
              <a:rPr lang="fr-FR" b="1">
                <a:solidFill>
                  <a:srgbClr val="1C1C1C"/>
                </a:solidFill>
                <a:latin typeface="Calibri" panose="020F0502020204030204" pitchFamily="34" charset="0"/>
              </a:rPr>
              <a:t>Besoin déjà décrit</a:t>
            </a:r>
          </a:p>
        </p:txBody>
      </p:sp>
      <p:sp>
        <p:nvSpPr>
          <p:cNvPr id="10" name="ZoneTexte 9">
            <a:extLst>
              <a:ext uri="{FF2B5EF4-FFF2-40B4-BE49-F238E27FC236}">
                <a16:creationId xmlns:a16="http://schemas.microsoft.com/office/drawing/2014/main" id="{4990A0DE-AA4A-A4DB-E41A-291FE9168421}"/>
              </a:ext>
            </a:extLst>
          </p:cNvPr>
          <p:cNvSpPr txBox="1"/>
          <p:nvPr/>
        </p:nvSpPr>
        <p:spPr>
          <a:xfrm>
            <a:off x="6502400" y="2108200"/>
            <a:ext cx="5181600" cy="292388"/>
          </a:xfrm>
          <a:prstGeom prst="rect">
            <a:avLst/>
          </a:prstGeom>
          <a:noFill/>
        </p:spPr>
        <p:txBody>
          <a:bodyPr vert="horz" wrap="square" rtlCol="0">
            <a:noAutofit/>
          </a:bodyPr>
          <a:lstStyle/>
          <a:p>
            <a:r>
              <a:rPr lang="fr-FR" sz="1300">
                <a:solidFill>
                  <a:srgbClr val="5A5A5A"/>
                </a:solidFill>
                <a:latin typeface="Calibri" panose="020F0502020204030204" pitchFamily="34" charset="0"/>
              </a:rPr>
              <a:t>www.pim-industrie.com/besoins/besoin-decrit</a:t>
            </a:r>
          </a:p>
        </p:txBody>
      </p:sp>
      <p:sp>
        <p:nvSpPr>
          <p:cNvPr id="11" name="Rectangle 10">
            <a:extLst>
              <a:ext uri="{FF2B5EF4-FFF2-40B4-BE49-F238E27FC236}">
                <a16:creationId xmlns:a16="http://schemas.microsoft.com/office/drawing/2014/main" id="{ECEE21D1-FCD7-FF09-6435-B5E16A2D94B4}"/>
              </a:ext>
            </a:extLst>
          </p:cNvPr>
          <p:cNvSpPr/>
          <p:nvPr/>
        </p:nvSpPr>
        <p:spPr>
          <a:xfrm>
            <a:off x="457200" y="3022600"/>
            <a:ext cx="5588000" cy="1371600"/>
          </a:xfrm>
          <a:prstGeom prst="rect">
            <a:avLst/>
          </a:prstGeom>
          <a:solidFill>
            <a:srgbClr val="E2EC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F70C16A1-E9D0-8AFD-8705-AF2F31F70418}"/>
              </a:ext>
            </a:extLst>
          </p:cNvPr>
          <p:cNvSpPr txBox="1"/>
          <p:nvPr/>
        </p:nvSpPr>
        <p:spPr>
          <a:xfrm>
            <a:off x="660400" y="3175000"/>
            <a:ext cx="5181600" cy="369332"/>
          </a:xfrm>
          <a:prstGeom prst="rect">
            <a:avLst/>
          </a:prstGeom>
          <a:noFill/>
        </p:spPr>
        <p:txBody>
          <a:bodyPr vert="horz" wrap="square" rtlCol="0">
            <a:noAutofit/>
          </a:bodyPr>
          <a:lstStyle/>
          <a:p>
            <a:r>
              <a:rPr lang="fr-FR" b="1">
                <a:solidFill>
                  <a:srgbClr val="1C1C1C"/>
                </a:solidFill>
                <a:latin typeface="Calibri" panose="020F0502020204030204" pitchFamily="34" charset="0"/>
              </a:rPr>
              <a:t>Passer en série</a:t>
            </a:r>
          </a:p>
        </p:txBody>
      </p:sp>
      <p:sp>
        <p:nvSpPr>
          <p:cNvPr id="13" name="ZoneTexte 12">
            <a:extLst>
              <a:ext uri="{FF2B5EF4-FFF2-40B4-BE49-F238E27FC236}">
                <a16:creationId xmlns:a16="http://schemas.microsoft.com/office/drawing/2014/main" id="{E96319AC-FE16-8576-414B-33ABE368B126}"/>
              </a:ext>
            </a:extLst>
          </p:cNvPr>
          <p:cNvSpPr txBox="1"/>
          <p:nvPr/>
        </p:nvSpPr>
        <p:spPr>
          <a:xfrm>
            <a:off x="660400" y="3632200"/>
            <a:ext cx="5181600" cy="292388"/>
          </a:xfrm>
          <a:prstGeom prst="rect">
            <a:avLst/>
          </a:prstGeom>
          <a:noFill/>
        </p:spPr>
        <p:txBody>
          <a:bodyPr vert="horz" wrap="square" rtlCol="0">
            <a:noAutofit/>
          </a:bodyPr>
          <a:lstStyle/>
          <a:p>
            <a:r>
              <a:rPr lang="fr-FR" sz="1300">
                <a:solidFill>
                  <a:srgbClr val="5A5A5A"/>
                </a:solidFill>
                <a:latin typeface="Calibri" panose="020F0502020204030204" pitchFamily="34" charset="0"/>
              </a:rPr>
              <a:t>www.pim-industrie.com/besoins/industrialiser</a:t>
            </a:r>
          </a:p>
        </p:txBody>
      </p:sp>
      <p:sp>
        <p:nvSpPr>
          <p:cNvPr id="14" name="Rectangle 13">
            <a:extLst>
              <a:ext uri="{FF2B5EF4-FFF2-40B4-BE49-F238E27FC236}">
                <a16:creationId xmlns:a16="http://schemas.microsoft.com/office/drawing/2014/main" id="{FD73E6EC-2CD1-CAB5-A59E-FA1F4A542496}"/>
              </a:ext>
            </a:extLst>
          </p:cNvPr>
          <p:cNvSpPr/>
          <p:nvPr/>
        </p:nvSpPr>
        <p:spPr>
          <a:xfrm>
            <a:off x="6299200" y="3022600"/>
            <a:ext cx="5588000" cy="1371600"/>
          </a:xfrm>
          <a:prstGeom prst="rect">
            <a:avLst/>
          </a:prstGeom>
          <a:solidFill>
            <a:srgbClr val="E2EC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F43545E2-0C1D-6390-0ABF-162E002528D2}"/>
              </a:ext>
            </a:extLst>
          </p:cNvPr>
          <p:cNvSpPr txBox="1"/>
          <p:nvPr/>
        </p:nvSpPr>
        <p:spPr>
          <a:xfrm>
            <a:off x="6502400" y="3175000"/>
            <a:ext cx="5181600" cy="369332"/>
          </a:xfrm>
          <a:prstGeom prst="rect">
            <a:avLst/>
          </a:prstGeom>
          <a:noFill/>
        </p:spPr>
        <p:txBody>
          <a:bodyPr vert="horz" wrap="square" rtlCol="0">
            <a:noAutofit/>
          </a:bodyPr>
          <a:lstStyle/>
          <a:p>
            <a:r>
              <a:rPr lang="fr-FR" b="1">
                <a:solidFill>
                  <a:srgbClr val="1C1C1C"/>
                </a:solidFill>
                <a:latin typeface="Calibri" panose="020F0502020204030204" pitchFamily="34" charset="0"/>
              </a:rPr>
              <a:t>Industrie médicale</a:t>
            </a:r>
          </a:p>
        </p:txBody>
      </p:sp>
      <p:sp>
        <p:nvSpPr>
          <p:cNvPr id="16" name="ZoneTexte 15">
            <a:extLst>
              <a:ext uri="{FF2B5EF4-FFF2-40B4-BE49-F238E27FC236}">
                <a16:creationId xmlns:a16="http://schemas.microsoft.com/office/drawing/2014/main" id="{425C4D24-8E44-15F0-9A28-A7FBBB5400A3}"/>
              </a:ext>
            </a:extLst>
          </p:cNvPr>
          <p:cNvSpPr txBox="1"/>
          <p:nvPr/>
        </p:nvSpPr>
        <p:spPr>
          <a:xfrm>
            <a:off x="6502400" y="3632200"/>
            <a:ext cx="5181600" cy="292388"/>
          </a:xfrm>
          <a:prstGeom prst="rect">
            <a:avLst/>
          </a:prstGeom>
          <a:noFill/>
        </p:spPr>
        <p:txBody>
          <a:bodyPr vert="horz" wrap="square" rtlCol="0">
            <a:noAutofit/>
          </a:bodyPr>
          <a:lstStyle/>
          <a:p>
            <a:r>
              <a:rPr lang="fr-FR" sz="1300">
                <a:solidFill>
                  <a:srgbClr val="5A5A5A"/>
                </a:solidFill>
                <a:latin typeface="Calibri" panose="020F0502020204030204" pitchFamily="34" charset="0"/>
              </a:rPr>
              <a:t>www.pim-industrie.com/secteurs/industrie-medicale</a:t>
            </a:r>
          </a:p>
        </p:txBody>
      </p:sp>
      <p:sp>
        <p:nvSpPr>
          <p:cNvPr id="17" name="Rectangle 16">
            <a:extLst>
              <a:ext uri="{FF2B5EF4-FFF2-40B4-BE49-F238E27FC236}">
                <a16:creationId xmlns:a16="http://schemas.microsoft.com/office/drawing/2014/main" id="{06563B54-AF89-B508-D535-BCC93BF64F84}"/>
              </a:ext>
            </a:extLst>
          </p:cNvPr>
          <p:cNvSpPr/>
          <p:nvPr/>
        </p:nvSpPr>
        <p:spPr>
          <a:xfrm>
            <a:off x="457200" y="4546600"/>
            <a:ext cx="5588000" cy="1371600"/>
          </a:xfrm>
          <a:prstGeom prst="rect">
            <a:avLst/>
          </a:prstGeom>
          <a:solidFill>
            <a:srgbClr val="E2EC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D29C4408-2603-4679-F10E-52A2614AC9B1}"/>
              </a:ext>
            </a:extLst>
          </p:cNvPr>
          <p:cNvSpPr txBox="1"/>
          <p:nvPr/>
        </p:nvSpPr>
        <p:spPr>
          <a:xfrm>
            <a:off x="660400" y="4699000"/>
            <a:ext cx="5181600" cy="369332"/>
          </a:xfrm>
          <a:prstGeom prst="rect">
            <a:avLst/>
          </a:prstGeom>
          <a:noFill/>
        </p:spPr>
        <p:txBody>
          <a:bodyPr vert="horz" wrap="square" rtlCol="0">
            <a:noAutofit/>
          </a:bodyPr>
          <a:lstStyle/>
          <a:p>
            <a:r>
              <a:rPr lang="fr-FR" b="1">
                <a:solidFill>
                  <a:srgbClr val="1C1C1C"/>
                </a:solidFill>
                <a:latin typeface="Calibri" panose="020F0502020204030204" pitchFamily="34" charset="0"/>
              </a:rPr>
              <a:t>Aéronautique et défense</a:t>
            </a:r>
          </a:p>
        </p:txBody>
      </p:sp>
      <p:sp>
        <p:nvSpPr>
          <p:cNvPr id="19" name="ZoneTexte 18">
            <a:extLst>
              <a:ext uri="{FF2B5EF4-FFF2-40B4-BE49-F238E27FC236}">
                <a16:creationId xmlns:a16="http://schemas.microsoft.com/office/drawing/2014/main" id="{90CFE3A9-3F8A-3114-60E8-70B038AF77E0}"/>
              </a:ext>
            </a:extLst>
          </p:cNvPr>
          <p:cNvSpPr txBox="1"/>
          <p:nvPr/>
        </p:nvSpPr>
        <p:spPr>
          <a:xfrm>
            <a:off x="660400" y="5156200"/>
            <a:ext cx="5181600" cy="292388"/>
          </a:xfrm>
          <a:prstGeom prst="rect">
            <a:avLst/>
          </a:prstGeom>
          <a:noFill/>
        </p:spPr>
        <p:txBody>
          <a:bodyPr vert="horz" wrap="square" rtlCol="0">
            <a:noAutofit/>
          </a:bodyPr>
          <a:lstStyle/>
          <a:p>
            <a:r>
              <a:rPr lang="fr-FR" sz="1300">
                <a:solidFill>
                  <a:srgbClr val="5A5A5A"/>
                </a:solidFill>
                <a:latin typeface="Calibri" panose="020F0502020204030204" pitchFamily="34" charset="0"/>
              </a:rPr>
              <a:t>www.pim-industrie.com/secteurs/aeronautique-defense</a:t>
            </a:r>
          </a:p>
        </p:txBody>
      </p:sp>
      <p:sp>
        <p:nvSpPr>
          <p:cNvPr id="20" name="Rectangle 19">
            <a:extLst>
              <a:ext uri="{FF2B5EF4-FFF2-40B4-BE49-F238E27FC236}">
                <a16:creationId xmlns:a16="http://schemas.microsoft.com/office/drawing/2014/main" id="{63D2D358-18CA-46E8-2D0D-966D280EA5B6}"/>
              </a:ext>
            </a:extLst>
          </p:cNvPr>
          <p:cNvSpPr/>
          <p:nvPr/>
        </p:nvSpPr>
        <p:spPr>
          <a:xfrm>
            <a:off x="6299200" y="4546600"/>
            <a:ext cx="5588000" cy="1371600"/>
          </a:xfrm>
          <a:prstGeom prst="rect">
            <a:avLst/>
          </a:prstGeom>
          <a:solidFill>
            <a:srgbClr val="E2ECF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51B570A5-7817-B75C-8591-5C3737793F41}"/>
              </a:ext>
            </a:extLst>
          </p:cNvPr>
          <p:cNvSpPr txBox="1"/>
          <p:nvPr/>
        </p:nvSpPr>
        <p:spPr>
          <a:xfrm>
            <a:off x="6502400" y="4699000"/>
            <a:ext cx="5181600" cy="369332"/>
          </a:xfrm>
          <a:prstGeom prst="rect">
            <a:avLst/>
          </a:prstGeom>
          <a:noFill/>
        </p:spPr>
        <p:txBody>
          <a:bodyPr vert="horz" wrap="square" rtlCol="0">
            <a:noAutofit/>
          </a:bodyPr>
          <a:lstStyle/>
          <a:p>
            <a:r>
              <a:rPr lang="fr-FR" b="1">
                <a:solidFill>
                  <a:srgbClr val="1C1C1C"/>
                </a:solidFill>
                <a:latin typeface="Calibri" panose="020F0502020204030204" pitchFamily="34" charset="0"/>
              </a:rPr>
              <a:t>Luxe</a:t>
            </a:r>
          </a:p>
        </p:txBody>
      </p:sp>
      <p:sp>
        <p:nvSpPr>
          <p:cNvPr id="22" name="ZoneTexte 21">
            <a:extLst>
              <a:ext uri="{FF2B5EF4-FFF2-40B4-BE49-F238E27FC236}">
                <a16:creationId xmlns:a16="http://schemas.microsoft.com/office/drawing/2014/main" id="{8FE92F09-5493-E067-1006-07E514D442B3}"/>
              </a:ext>
            </a:extLst>
          </p:cNvPr>
          <p:cNvSpPr txBox="1"/>
          <p:nvPr/>
        </p:nvSpPr>
        <p:spPr>
          <a:xfrm>
            <a:off x="6502400" y="5156200"/>
            <a:ext cx="5181600" cy="292388"/>
          </a:xfrm>
          <a:prstGeom prst="rect">
            <a:avLst/>
          </a:prstGeom>
          <a:noFill/>
        </p:spPr>
        <p:txBody>
          <a:bodyPr vert="horz" wrap="square" rtlCol="0">
            <a:noAutofit/>
          </a:bodyPr>
          <a:lstStyle/>
          <a:p>
            <a:r>
              <a:rPr lang="fr-FR" sz="1300">
                <a:solidFill>
                  <a:srgbClr val="5A5A5A"/>
                </a:solidFill>
                <a:latin typeface="Calibri" panose="020F0502020204030204" pitchFamily="34" charset="0"/>
              </a:rPr>
              <a:t>www.pim-industrie.com/secteurs/luxe</a:t>
            </a:r>
          </a:p>
        </p:txBody>
      </p:sp>
    </p:spTree>
    <p:extLst>
      <p:ext uri="{BB962C8B-B14F-4D97-AF65-F5344CB8AC3E}">
        <p14:creationId xmlns:p14="http://schemas.microsoft.com/office/powerpoint/2010/main" val="2743967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C873715-3247-7106-4D24-8BBC363DB5E3}"/>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C436E884-5402-1252-C42F-684C3F78626B}"/>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Les adresses que nous allons réparer</a:t>
            </a:r>
          </a:p>
        </p:txBody>
      </p:sp>
      <p:sp>
        <p:nvSpPr>
          <p:cNvPr id="4" name="ZoneTexte 3">
            <a:extLst>
              <a:ext uri="{FF2B5EF4-FFF2-40B4-BE49-F238E27FC236}">
                <a16:creationId xmlns:a16="http://schemas.microsoft.com/office/drawing/2014/main" id="{98691666-25F7-1479-9A36-0451C422F08F}"/>
              </a:ext>
            </a:extLst>
          </p:cNvPr>
          <p:cNvSpPr txBox="1"/>
          <p:nvPr/>
        </p:nvSpPr>
        <p:spPr>
          <a:xfrm>
            <a:off x="457200" y="889000"/>
            <a:ext cx="11176000" cy="323165"/>
          </a:xfrm>
          <a:prstGeom prst="rect">
            <a:avLst/>
          </a:prstGeom>
          <a:noFill/>
        </p:spPr>
        <p:txBody>
          <a:bodyPr vert="horz" wrap="square" rtlCol="0">
            <a:noAutofit/>
          </a:bodyPr>
          <a:lstStyle/>
          <a:p>
            <a:r>
              <a:rPr lang="fr-FR" sz="1500">
                <a:solidFill>
                  <a:srgbClr val="5A5A5A"/>
                </a:solidFill>
                <a:latin typeface="Calibri" panose="020F0502020204030204" pitchFamily="34" charset="0"/>
              </a:rPr>
              <a:t>Si quelqu'un a noté l'ancienne adresse, il arrivera quand même au bon endroit.</a:t>
            </a:r>
          </a:p>
        </p:txBody>
      </p:sp>
      <p:sp>
        <p:nvSpPr>
          <p:cNvPr id="5" name="Rectangle 4">
            <a:extLst>
              <a:ext uri="{FF2B5EF4-FFF2-40B4-BE49-F238E27FC236}">
                <a16:creationId xmlns:a16="http://schemas.microsoft.com/office/drawing/2014/main" id="{F5B9319F-4729-6719-C621-9DAA4B87E90E}"/>
              </a:ext>
            </a:extLst>
          </p:cNvPr>
          <p:cNvSpPr/>
          <p:nvPr/>
        </p:nvSpPr>
        <p:spPr>
          <a:xfrm>
            <a:off x="457200" y="1422400"/>
            <a:ext cx="11277600" cy="1143000"/>
          </a:xfrm>
          <a:prstGeom prst="rect">
            <a:avLst/>
          </a:prstGeom>
          <a:solidFill>
            <a:srgbClr val="FDEC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4EBD0B04-1372-7D08-2DEB-F787BB4B5481}"/>
              </a:ext>
            </a:extLst>
          </p:cNvPr>
          <p:cNvSpPr txBox="1"/>
          <p:nvPr/>
        </p:nvSpPr>
        <p:spPr>
          <a:xfrm>
            <a:off x="660400" y="1524000"/>
            <a:ext cx="3175000" cy="323165"/>
          </a:xfrm>
          <a:prstGeom prst="rect">
            <a:avLst/>
          </a:prstGeom>
          <a:noFill/>
        </p:spPr>
        <p:txBody>
          <a:bodyPr vert="horz" wrap="square" rtlCol="0">
            <a:noAutofit/>
          </a:bodyPr>
          <a:lstStyle/>
          <a:p>
            <a:r>
              <a:rPr lang="fr-FR" sz="1500" b="1">
                <a:solidFill>
                  <a:srgbClr val="1C1C1C"/>
                </a:solidFill>
                <a:latin typeface="Calibri" panose="020F0502020204030204" pitchFamily="34" charset="0"/>
              </a:rPr>
              <a:t>Protection des données</a:t>
            </a:r>
          </a:p>
        </p:txBody>
      </p:sp>
      <p:sp>
        <p:nvSpPr>
          <p:cNvPr id="7" name="ZoneTexte 6">
            <a:extLst>
              <a:ext uri="{FF2B5EF4-FFF2-40B4-BE49-F238E27FC236}">
                <a16:creationId xmlns:a16="http://schemas.microsoft.com/office/drawing/2014/main" id="{6AA7C9D6-3CDD-CCAA-8EB6-FD1EEB593243}"/>
              </a:ext>
            </a:extLst>
          </p:cNvPr>
          <p:cNvSpPr txBox="1"/>
          <p:nvPr/>
        </p:nvSpPr>
        <p:spPr>
          <a:xfrm>
            <a:off x="3937000" y="1524000"/>
            <a:ext cx="7493000" cy="292388"/>
          </a:xfrm>
          <a:prstGeom prst="rect">
            <a:avLst/>
          </a:prstGeom>
          <a:noFill/>
        </p:spPr>
        <p:txBody>
          <a:bodyPr vert="horz" wrap="square" rtlCol="0">
            <a:noAutofit/>
          </a:bodyPr>
          <a:lstStyle/>
          <a:p>
            <a:r>
              <a:rPr lang="fr-FR" sz="1300">
                <a:solidFill>
                  <a:srgbClr val="5A5A5A"/>
                </a:solidFill>
                <a:latin typeface="Calibri" panose="020F0502020204030204" pitchFamily="34" charset="0"/>
              </a:rPr>
              <a:t>Avant  ·  www.pim-industrie.com/93</a:t>
            </a:r>
          </a:p>
        </p:txBody>
      </p:sp>
      <p:sp>
        <p:nvSpPr>
          <p:cNvPr id="8" name="ZoneTexte 7">
            <a:extLst>
              <a:ext uri="{FF2B5EF4-FFF2-40B4-BE49-F238E27FC236}">
                <a16:creationId xmlns:a16="http://schemas.microsoft.com/office/drawing/2014/main" id="{1D7200F5-F156-31EF-C273-97229D5953A8}"/>
              </a:ext>
            </a:extLst>
          </p:cNvPr>
          <p:cNvSpPr txBox="1"/>
          <p:nvPr/>
        </p:nvSpPr>
        <p:spPr>
          <a:xfrm>
            <a:off x="660400" y="1981200"/>
            <a:ext cx="10795000" cy="323165"/>
          </a:xfrm>
          <a:prstGeom prst="rect">
            <a:avLst/>
          </a:prstGeom>
          <a:noFill/>
        </p:spPr>
        <p:txBody>
          <a:bodyPr vert="horz" wrap="square" rtlCol="0">
            <a:noAutofit/>
          </a:bodyPr>
          <a:lstStyle/>
          <a:p>
            <a:r>
              <a:rPr lang="fr-FR" sz="1500">
                <a:solidFill>
                  <a:srgbClr val="1C1C1C"/>
                </a:solidFill>
                <a:latin typeface="Calibri" panose="020F0502020204030204" pitchFamily="34" charset="0"/>
              </a:rPr>
              <a:t>Après  ·  www.pim-industrie.com/politique-de-protection-des-donnees</a:t>
            </a:r>
          </a:p>
        </p:txBody>
      </p:sp>
      <p:sp>
        <p:nvSpPr>
          <p:cNvPr id="9" name="Rectangle 8">
            <a:extLst>
              <a:ext uri="{FF2B5EF4-FFF2-40B4-BE49-F238E27FC236}">
                <a16:creationId xmlns:a16="http://schemas.microsoft.com/office/drawing/2014/main" id="{02ECAE38-1557-76DE-AEBB-042E5553C4A5}"/>
              </a:ext>
            </a:extLst>
          </p:cNvPr>
          <p:cNvSpPr/>
          <p:nvPr/>
        </p:nvSpPr>
        <p:spPr>
          <a:xfrm>
            <a:off x="457200" y="2667000"/>
            <a:ext cx="11277600" cy="1143000"/>
          </a:xfrm>
          <a:prstGeom prst="rect">
            <a:avLst/>
          </a:prstGeom>
          <a:solidFill>
            <a:srgbClr val="FDEC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A6F40E7D-F39C-B965-E36A-97A5D4CD7021}"/>
              </a:ext>
            </a:extLst>
          </p:cNvPr>
          <p:cNvSpPr txBox="1"/>
          <p:nvPr/>
        </p:nvSpPr>
        <p:spPr>
          <a:xfrm>
            <a:off x="660400" y="2768600"/>
            <a:ext cx="3175000" cy="323165"/>
          </a:xfrm>
          <a:prstGeom prst="rect">
            <a:avLst/>
          </a:prstGeom>
          <a:noFill/>
        </p:spPr>
        <p:txBody>
          <a:bodyPr vert="horz" wrap="square" rtlCol="0">
            <a:noAutofit/>
          </a:bodyPr>
          <a:lstStyle/>
          <a:p>
            <a:r>
              <a:rPr lang="fr-FR" sz="1500" b="1">
                <a:solidFill>
                  <a:srgbClr val="1C1C1C"/>
                </a:solidFill>
                <a:latin typeface="Calibri" panose="020F0502020204030204" pitchFamily="34" charset="0"/>
              </a:rPr>
              <a:t>Deux pages « société »</a:t>
            </a:r>
          </a:p>
        </p:txBody>
      </p:sp>
      <p:sp>
        <p:nvSpPr>
          <p:cNvPr id="11" name="ZoneTexte 10">
            <a:extLst>
              <a:ext uri="{FF2B5EF4-FFF2-40B4-BE49-F238E27FC236}">
                <a16:creationId xmlns:a16="http://schemas.microsoft.com/office/drawing/2014/main" id="{6A2BD74F-81ED-649F-1A2A-3CB758A8BAD0}"/>
              </a:ext>
            </a:extLst>
          </p:cNvPr>
          <p:cNvSpPr txBox="1"/>
          <p:nvPr/>
        </p:nvSpPr>
        <p:spPr>
          <a:xfrm>
            <a:off x="3937000" y="2768600"/>
            <a:ext cx="7493000" cy="292388"/>
          </a:xfrm>
          <a:prstGeom prst="rect">
            <a:avLst/>
          </a:prstGeom>
          <a:noFill/>
        </p:spPr>
        <p:txBody>
          <a:bodyPr vert="horz" wrap="square" rtlCol="0">
            <a:noAutofit/>
          </a:bodyPr>
          <a:lstStyle/>
          <a:p>
            <a:r>
              <a:rPr lang="fr-FR" sz="1300">
                <a:solidFill>
                  <a:srgbClr val="5A5A5A"/>
                </a:solidFill>
                <a:latin typeface="Calibri" panose="020F0502020204030204" pitchFamily="34" charset="0"/>
              </a:rPr>
              <a:t>Avant  ·  www.pim-industrie.com/societe</a:t>
            </a:r>
          </a:p>
        </p:txBody>
      </p:sp>
      <p:sp>
        <p:nvSpPr>
          <p:cNvPr id="12" name="ZoneTexte 11">
            <a:extLst>
              <a:ext uri="{FF2B5EF4-FFF2-40B4-BE49-F238E27FC236}">
                <a16:creationId xmlns:a16="http://schemas.microsoft.com/office/drawing/2014/main" id="{933EF17C-71A1-4B8D-E718-AA33E9036960}"/>
              </a:ext>
            </a:extLst>
          </p:cNvPr>
          <p:cNvSpPr txBox="1"/>
          <p:nvPr/>
        </p:nvSpPr>
        <p:spPr>
          <a:xfrm>
            <a:off x="660400" y="3225800"/>
            <a:ext cx="10795000" cy="323165"/>
          </a:xfrm>
          <a:prstGeom prst="rect">
            <a:avLst/>
          </a:prstGeom>
          <a:noFill/>
        </p:spPr>
        <p:txBody>
          <a:bodyPr vert="horz" wrap="square" rtlCol="0">
            <a:noAutofit/>
          </a:bodyPr>
          <a:lstStyle/>
          <a:p>
            <a:r>
              <a:rPr lang="fr-FR" sz="1500">
                <a:solidFill>
                  <a:srgbClr val="1C1C1C"/>
                </a:solidFill>
                <a:latin typeface="Calibri" panose="020F0502020204030204" pitchFamily="34" charset="0"/>
              </a:rPr>
              <a:t>Après  ·  www.pim-industrie.com/qui-sommes-nous</a:t>
            </a:r>
          </a:p>
        </p:txBody>
      </p:sp>
      <p:sp>
        <p:nvSpPr>
          <p:cNvPr id="13" name="Rectangle 12">
            <a:extLst>
              <a:ext uri="{FF2B5EF4-FFF2-40B4-BE49-F238E27FC236}">
                <a16:creationId xmlns:a16="http://schemas.microsoft.com/office/drawing/2014/main" id="{F73A7705-4FAB-6011-9F51-31DCC4E32B56}"/>
              </a:ext>
            </a:extLst>
          </p:cNvPr>
          <p:cNvSpPr/>
          <p:nvPr/>
        </p:nvSpPr>
        <p:spPr>
          <a:xfrm>
            <a:off x="457200" y="3911600"/>
            <a:ext cx="11277600" cy="1143000"/>
          </a:xfrm>
          <a:prstGeom prst="rect">
            <a:avLst/>
          </a:prstGeom>
          <a:solidFill>
            <a:srgbClr val="FDEC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2F165C32-E5AE-8193-CEE8-1F7077FB6C5F}"/>
              </a:ext>
            </a:extLst>
          </p:cNvPr>
          <p:cNvSpPr txBox="1"/>
          <p:nvPr/>
        </p:nvSpPr>
        <p:spPr>
          <a:xfrm>
            <a:off x="660400" y="4013200"/>
            <a:ext cx="3175000" cy="323165"/>
          </a:xfrm>
          <a:prstGeom prst="rect">
            <a:avLst/>
          </a:prstGeom>
          <a:noFill/>
        </p:spPr>
        <p:txBody>
          <a:bodyPr vert="horz" wrap="square" rtlCol="0">
            <a:noAutofit/>
          </a:bodyPr>
          <a:lstStyle/>
          <a:p>
            <a:r>
              <a:rPr lang="fr-FR" sz="1500" b="1">
                <a:solidFill>
                  <a:srgbClr val="1C1C1C"/>
                </a:solidFill>
                <a:latin typeface="Calibri" panose="020F0502020204030204" pitchFamily="34" charset="0"/>
              </a:rPr>
              <a:t>Glossaire vide</a:t>
            </a:r>
          </a:p>
        </p:txBody>
      </p:sp>
      <p:sp>
        <p:nvSpPr>
          <p:cNvPr id="15" name="ZoneTexte 14">
            <a:extLst>
              <a:ext uri="{FF2B5EF4-FFF2-40B4-BE49-F238E27FC236}">
                <a16:creationId xmlns:a16="http://schemas.microsoft.com/office/drawing/2014/main" id="{65765753-1950-65AC-8688-48BCBA26F73A}"/>
              </a:ext>
            </a:extLst>
          </p:cNvPr>
          <p:cNvSpPr txBox="1"/>
          <p:nvPr/>
        </p:nvSpPr>
        <p:spPr>
          <a:xfrm>
            <a:off x="3937000" y="4013200"/>
            <a:ext cx="7493000" cy="292388"/>
          </a:xfrm>
          <a:prstGeom prst="rect">
            <a:avLst/>
          </a:prstGeom>
          <a:noFill/>
        </p:spPr>
        <p:txBody>
          <a:bodyPr vert="horz" wrap="square" rtlCol="0">
            <a:noAutofit/>
          </a:bodyPr>
          <a:lstStyle/>
          <a:p>
            <a:r>
              <a:rPr lang="fr-FR" sz="1300">
                <a:solidFill>
                  <a:srgbClr val="5A5A5A"/>
                </a:solidFill>
                <a:latin typeface="Calibri" panose="020F0502020204030204" pitchFamily="34" charset="0"/>
              </a:rPr>
              <a:t>Avant  ·  www.pim-industrie.com/outils/glossaire</a:t>
            </a:r>
          </a:p>
        </p:txBody>
      </p:sp>
      <p:sp>
        <p:nvSpPr>
          <p:cNvPr id="16" name="ZoneTexte 15">
            <a:extLst>
              <a:ext uri="{FF2B5EF4-FFF2-40B4-BE49-F238E27FC236}">
                <a16:creationId xmlns:a16="http://schemas.microsoft.com/office/drawing/2014/main" id="{1514FD17-A642-3B8C-77D1-7A741893EF8F}"/>
              </a:ext>
            </a:extLst>
          </p:cNvPr>
          <p:cNvSpPr txBox="1"/>
          <p:nvPr/>
        </p:nvSpPr>
        <p:spPr>
          <a:xfrm>
            <a:off x="660400" y="4470400"/>
            <a:ext cx="10795000" cy="323165"/>
          </a:xfrm>
          <a:prstGeom prst="rect">
            <a:avLst/>
          </a:prstGeom>
          <a:noFill/>
        </p:spPr>
        <p:txBody>
          <a:bodyPr vert="horz" wrap="square" rtlCol="0">
            <a:noAutofit/>
          </a:bodyPr>
          <a:lstStyle/>
          <a:p>
            <a:r>
              <a:rPr lang="fr-FR" sz="1500">
                <a:solidFill>
                  <a:srgbClr val="1C1C1C"/>
                </a:solidFill>
                <a:latin typeface="Calibri" panose="020F0502020204030204" pitchFamily="34" charset="0"/>
              </a:rPr>
              <a:t>Après  ·  www.pim-industrie.com/glossaire</a:t>
            </a:r>
          </a:p>
        </p:txBody>
      </p:sp>
      <p:sp>
        <p:nvSpPr>
          <p:cNvPr id="17" name="Rectangle 16">
            <a:extLst>
              <a:ext uri="{FF2B5EF4-FFF2-40B4-BE49-F238E27FC236}">
                <a16:creationId xmlns:a16="http://schemas.microsoft.com/office/drawing/2014/main" id="{23B1EB86-0B56-CC8E-5646-DE6FEF398F24}"/>
              </a:ext>
            </a:extLst>
          </p:cNvPr>
          <p:cNvSpPr/>
          <p:nvPr/>
        </p:nvSpPr>
        <p:spPr>
          <a:xfrm>
            <a:off x="457200" y="5156200"/>
            <a:ext cx="11277600" cy="1143000"/>
          </a:xfrm>
          <a:prstGeom prst="rect">
            <a:avLst/>
          </a:prstGeom>
          <a:solidFill>
            <a:srgbClr val="FDEC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50FEF9EA-DD7C-F111-E59D-4291D0BE85D7}"/>
              </a:ext>
            </a:extLst>
          </p:cNvPr>
          <p:cNvSpPr txBox="1"/>
          <p:nvPr/>
        </p:nvSpPr>
        <p:spPr>
          <a:xfrm>
            <a:off x="660400" y="5257800"/>
            <a:ext cx="3175000" cy="323165"/>
          </a:xfrm>
          <a:prstGeom prst="rect">
            <a:avLst/>
          </a:prstGeom>
          <a:noFill/>
        </p:spPr>
        <p:txBody>
          <a:bodyPr vert="horz" wrap="square" rtlCol="0">
            <a:noAutofit/>
          </a:bodyPr>
          <a:lstStyle/>
          <a:p>
            <a:r>
              <a:rPr lang="fr-FR" sz="1500" b="1">
                <a:solidFill>
                  <a:srgbClr val="1C1C1C"/>
                </a:solidFill>
                <a:latin typeface="Calibri" panose="020F0502020204030204" pitchFamily="34" charset="0"/>
              </a:rPr>
              <a:t>Newsletter</a:t>
            </a:r>
          </a:p>
        </p:txBody>
      </p:sp>
      <p:sp>
        <p:nvSpPr>
          <p:cNvPr id="19" name="ZoneTexte 18">
            <a:extLst>
              <a:ext uri="{FF2B5EF4-FFF2-40B4-BE49-F238E27FC236}">
                <a16:creationId xmlns:a16="http://schemas.microsoft.com/office/drawing/2014/main" id="{F5624A0B-7698-CA2E-BBCB-4C9D41BE7612}"/>
              </a:ext>
            </a:extLst>
          </p:cNvPr>
          <p:cNvSpPr txBox="1"/>
          <p:nvPr/>
        </p:nvSpPr>
        <p:spPr>
          <a:xfrm>
            <a:off x="3937000" y="5257800"/>
            <a:ext cx="7493000" cy="292388"/>
          </a:xfrm>
          <a:prstGeom prst="rect">
            <a:avLst/>
          </a:prstGeom>
          <a:noFill/>
        </p:spPr>
        <p:txBody>
          <a:bodyPr vert="horz" wrap="square" rtlCol="0">
            <a:noAutofit/>
          </a:bodyPr>
          <a:lstStyle/>
          <a:p>
            <a:r>
              <a:rPr lang="fr-FR" sz="1300">
                <a:solidFill>
                  <a:srgbClr val="5A5A5A"/>
                </a:solidFill>
                <a:latin typeface="Calibri" panose="020F0502020204030204" pitchFamily="34" charset="0"/>
              </a:rPr>
              <a:t>Avant  ·  www.pim-industrie.com/inscriptiondesinscription-newsletter</a:t>
            </a:r>
          </a:p>
        </p:txBody>
      </p:sp>
      <p:sp>
        <p:nvSpPr>
          <p:cNvPr id="20" name="ZoneTexte 19">
            <a:extLst>
              <a:ext uri="{FF2B5EF4-FFF2-40B4-BE49-F238E27FC236}">
                <a16:creationId xmlns:a16="http://schemas.microsoft.com/office/drawing/2014/main" id="{EF11B280-6FF9-20A5-2F41-118FC116BB85}"/>
              </a:ext>
            </a:extLst>
          </p:cNvPr>
          <p:cNvSpPr txBox="1"/>
          <p:nvPr/>
        </p:nvSpPr>
        <p:spPr>
          <a:xfrm>
            <a:off x="660400" y="5715000"/>
            <a:ext cx="10795000" cy="323165"/>
          </a:xfrm>
          <a:prstGeom prst="rect">
            <a:avLst/>
          </a:prstGeom>
          <a:noFill/>
        </p:spPr>
        <p:txBody>
          <a:bodyPr vert="horz" wrap="square" rtlCol="0">
            <a:noAutofit/>
          </a:bodyPr>
          <a:lstStyle/>
          <a:p>
            <a:r>
              <a:rPr lang="fr-FR" sz="1500">
                <a:solidFill>
                  <a:srgbClr val="1C1C1C"/>
                </a:solidFill>
                <a:latin typeface="Calibri" panose="020F0502020204030204" pitchFamily="34" charset="0"/>
              </a:rPr>
              <a:t>Après  ·  www.pim-industrie.com/newsletter</a:t>
            </a:r>
          </a:p>
        </p:txBody>
      </p:sp>
    </p:spTree>
    <p:extLst>
      <p:ext uri="{BB962C8B-B14F-4D97-AF65-F5344CB8AC3E}">
        <p14:creationId xmlns:p14="http://schemas.microsoft.com/office/powerpoint/2010/main" val="1277246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6A4027-A4AE-E9DE-EC43-64B12699E776}"/>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39200A13-9A58-FBAC-3923-92D07C63A334}"/>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Une page par métier</a:t>
            </a:r>
          </a:p>
        </p:txBody>
      </p:sp>
      <p:sp>
        <p:nvSpPr>
          <p:cNvPr id="4" name="ZoneTexte 3">
            <a:extLst>
              <a:ext uri="{FF2B5EF4-FFF2-40B4-BE49-F238E27FC236}">
                <a16:creationId xmlns:a16="http://schemas.microsoft.com/office/drawing/2014/main" id="{18FB650F-1DFA-528A-27B5-F191C681002B}"/>
              </a:ext>
            </a:extLst>
          </p:cNvPr>
          <p:cNvSpPr txBox="1"/>
          <p:nvPr/>
        </p:nvSpPr>
        <p:spPr>
          <a:xfrm>
            <a:off x="457200" y="914400"/>
            <a:ext cx="11176000" cy="323165"/>
          </a:xfrm>
          <a:prstGeom prst="rect">
            <a:avLst/>
          </a:prstGeom>
          <a:noFill/>
        </p:spPr>
        <p:txBody>
          <a:bodyPr vert="horz" wrap="square" rtlCol="0">
            <a:noAutofit/>
          </a:bodyPr>
          <a:lstStyle/>
          <a:p>
            <a:r>
              <a:rPr lang="fr-FR" sz="1500">
                <a:solidFill>
                  <a:srgbClr val="5A5A5A"/>
                </a:solidFill>
                <a:latin typeface="Calibri" panose="020F0502020204030204" pitchFamily="34" charset="0"/>
              </a:rPr>
              <a:t>Aujourd'hui ce sont des images. Demain, chacune a son texte et mène vers les bons produits.</a:t>
            </a:r>
          </a:p>
        </p:txBody>
      </p:sp>
      <p:sp>
        <p:nvSpPr>
          <p:cNvPr id="5" name="Rectangle 4">
            <a:extLst>
              <a:ext uri="{FF2B5EF4-FFF2-40B4-BE49-F238E27FC236}">
                <a16:creationId xmlns:a16="http://schemas.microsoft.com/office/drawing/2014/main" id="{59C85B45-746D-E506-0672-C1B7C590A200}"/>
              </a:ext>
            </a:extLst>
          </p:cNvPr>
          <p:cNvSpPr/>
          <p:nvPr/>
        </p:nvSpPr>
        <p:spPr>
          <a:xfrm>
            <a:off x="457200" y="1651000"/>
            <a:ext cx="3606800" cy="12192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892FCF9A-1DB2-B1DA-039D-F2A2913471DF}"/>
              </a:ext>
            </a:extLst>
          </p:cNvPr>
          <p:cNvSpPr txBox="1"/>
          <p:nvPr/>
        </p:nvSpPr>
        <p:spPr>
          <a:xfrm>
            <a:off x="635000" y="2006600"/>
            <a:ext cx="3251200" cy="338554"/>
          </a:xfrm>
          <a:prstGeom prst="rect">
            <a:avLst/>
          </a:prstGeom>
          <a:noFill/>
        </p:spPr>
        <p:txBody>
          <a:bodyPr vert="horz" wrap="square" rtlCol="0">
            <a:noAutofit/>
          </a:bodyPr>
          <a:lstStyle/>
          <a:p>
            <a:r>
              <a:rPr lang="fr-FR" sz="1600" b="1">
                <a:solidFill>
                  <a:srgbClr val="1C1C1C"/>
                </a:solidFill>
                <a:latin typeface="Calibri" panose="020F0502020204030204" pitchFamily="34" charset="0"/>
              </a:rPr>
              <a:t>Industrie médicale</a:t>
            </a:r>
          </a:p>
        </p:txBody>
      </p:sp>
      <p:sp>
        <p:nvSpPr>
          <p:cNvPr id="7" name="Rectangle 6">
            <a:extLst>
              <a:ext uri="{FF2B5EF4-FFF2-40B4-BE49-F238E27FC236}">
                <a16:creationId xmlns:a16="http://schemas.microsoft.com/office/drawing/2014/main" id="{674269DD-99FA-4C15-F38D-F2C41F1E44FC}"/>
              </a:ext>
            </a:extLst>
          </p:cNvPr>
          <p:cNvSpPr/>
          <p:nvPr/>
        </p:nvSpPr>
        <p:spPr>
          <a:xfrm>
            <a:off x="4267200" y="1651000"/>
            <a:ext cx="3606800" cy="12192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B218901B-49DD-012B-BAF3-4E065CBAC8FA}"/>
              </a:ext>
            </a:extLst>
          </p:cNvPr>
          <p:cNvSpPr txBox="1"/>
          <p:nvPr/>
        </p:nvSpPr>
        <p:spPr>
          <a:xfrm>
            <a:off x="4445000" y="2006600"/>
            <a:ext cx="3251200" cy="338554"/>
          </a:xfrm>
          <a:prstGeom prst="rect">
            <a:avLst/>
          </a:prstGeom>
          <a:noFill/>
        </p:spPr>
        <p:txBody>
          <a:bodyPr vert="horz" wrap="square" rtlCol="0">
            <a:noAutofit/>
          </a:bodyPr>
          <a:lstStyle/>
          <a:p>
            <a:r>
              <a:rPr lang="fr-FR" sz="1600" b="1">
                <a:solidFill>
                  <a:srgbClr val="1C1C1C"/>
                </a:solidFill>
                <a:latin typeface="Calibri" panose="020F0502020204030204" pitchFamily="34" charset="0"/>
              </a:rPr>
              <a:t>Aéronautique et défense</a:t>
            </a:r>
          </a:p>
        </p:txBody>
      </p:sp>
      <p:sp>
        <p:nvSpPr>
          <p:cNvPr id="9" name="Rectangle 8">
            <a:extLst>
              <a:ext uri="{FF2B5EF4-FFF2-40B4-BE49-F238E27FC236}">
                <a16:creationId xmlns:a16="http://schemas.microsoft.com/office/drawing/2014/main" id="{D16C8CD0-5243-FE86-CAF1-2B215D6F328F}"/>
              </a:ext>
            </a:extLst>
          </p:cNvPr>
          <p:cNvSpPr/>
          <p:nvPr/>
        </p:nvSpPr>
        <p:spPr>
          <a:xfrm>
            <a:off x="8077200" y="1651000"/>
            <a:ext cx="3606800" cy="12192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2D543163-854A-BFBD-C64D-61016EECBABA}"/>
              </a:ext>
            </a:extLst>
          </p:cNvPr>
          <p:cNvSpPr txBox="1"/>
          <p:nvPr/>
        </p:nvSpPr>
        <p:spPr>
          <a:xfrm>
            <a:off x="8255000" y="2006600"/>
            <a:ext cx="3251200" cy="338554"/>
          </a:xfrm>
          <a:prstGeom prst="rect">
            <a:avLst/>
          </a:prstGeom>
          <a:noFill/>
        </p:spPr>
        <p:txBody>
          <a:bodyPr vert="horz" wrap="square" rtlCol="0">
            <a:noAutofit/>
          </a:bodyPr>
          <a:lstStyle/>
          <a:p>
            <a:r>
              <a:rPr lang="fr-FR" sz="1600" b="1">
                <a:solidFill>
                  <a:srgbClr val="1C1C1C"/>
                </a:solidFill>
                <a:latin typeface="Calibri" panose="020F0502020204030204" pitchFamily="34" charset="0"/>
              </a:rPr>
              <a:t>Automobile</a:t>
            </a:r>
          </a:p>
        </p:txBody>
      </p:sp>
      <p:sp>
        <p:nvSpPr>
          <p:cNvPr id="11" name="Rectangle 10">
            <a:extLst>
              <a:ext uri="{FF2B5EF4-FFF2-40B4-BE49-F238E27FC236}">
                <a16:creationId xmlns:a16="http://schemas.microsoft.com/office/drawing/2014/main" id="{84107814-7B8F-8A79-8351-7739923B2ADD}"/>
              </a:ext>
            </a:extLst>
          </p:cNvPr>
          <p:cNvSpPr/>
          <p:nvPr/>
        </p:nvSpPr>
        <p:spPr>
          <a:xfrm>
            <a:off x="457200" y="3048000"/>
            <a:ext cx="3606800" cy="12192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EA0FCE78-BDC3-B5B0-11AF-638283FA4DE6}"/>
              </a:ext>
            </a:extLst>
          </p:cNvPr>
          <p:cNvSpPr txBox="1"/>
          <p:nvPr/>
        </p:nvSpPr>
        <p:spPr>
          <a:xfrm>
            <a:off x="635000" y="3403600"/>
            <a:ext cx="3251200" cy="338554"/>
          </a:xfrm>
          <a:prstGeom prst="rect">
            <a:avLst/>
          </a:prstGeom>
          <a:noFill/>
        </p:spPr>
        <p:txBody>
          <a:bodyPr vert="horz" wrap="square" rtlCol="0">
            <a:noAutofit/>
          </a:bodyPr>
          <a:lstStyle/>
          <a:p>
            <a:r>
              <a:rPr lang="fr-FR" sz="1600" b="1">
                <a:solidFill>
                  <a:srgbClr val="1C1C1C"/>
                </a:solidFill>
                <a:latin typeface="Calibri" panose="020F0502020204030204" pitchFamily="34" charset="0"/>
              </a:rPr>
              <a:t>Automatisation</a:t>
            </a:r>
          </a:p>
        </p:txBody>
      </p:sp>
      <p:sp>
        <p:nvSpPr>
          <p:cNvPr id="13" name="Rectangle 12">
            <a:extLst>
              <a:ext uri="{FF2B5EF4-FFF2-40B4-BE49-F238E27FC236}">
                <a16:creationId xmlns:a16="http://schemas.microsoft.com/office/drawing/2014/main" id="{29ED2A35-BE8B-EE64-7A95-06911D5AECEA}"/>
              </a:ext>
            </a:extLst>
          </p:cNvPr>
          <p:cNvSpPr/>
          <p:nvPr/>
        </p:nvSpPr>
        <p:spPr>
          <a:xfrm>
            <a:off x="4267200" y="3048000"/>
            <a:ext cx="3606800" cy="12192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14CBB712-73DB-0745-3E70-66AC0FD18E57}"/>
              </a:ext>
            </a:extLst>
          </p:cNvPr>
          <p:cNvSpPr txBox="1"/>
          <p:nvPr/>
        </p:nvSpPr>
        <p:spPr>
          <a:xfrm>
            <a:off x="4445000" y="3403600"/>
            <a:ext cx="3251200" cy="338554"/>
          </a:xfrm>
          <a:prstGeom prst="rect">
            <a:avLst/>
          </a:prstGeom>
          <a:noFill/>
        </p:spPr>
        <p:txBody>
          <a:bodyPr vert="horz" wrap="square" rtlCol="0">
            <a:noAutofit/>
          </a:bodyPr>
          <a:lstStyle/>
          <a:p>
            <a:r>
              <a:rPr lang="fr-FR" sz="1600" b="1">
                <a:solidFill>
                  <a:srgbClr val="1C1C1C"/>
                </a:solidFill>
                <a:latin typeface="Calibri" panose="020F0502020204030204" pitchFamily="34" charset="0"/>
              </a:rPr>
              <a:t>Machine-outils</a:t>
            </a:r>
          </a:p>
        </p:txBody>
      </p:sp>
      <p:sp>
        <p:nvSpPr>
          <p:cNvPr id="15" name="Rectangle 14">
            <a:extLst>
              <a:ext uri="{FF2B5EF4-FFF2-40B4-BE49-F238E27FC236}">
                <a16:creationId xmlns:a16="http://schemas.microsoft.com/office/drawing/2014/main" id="{491121F4-FE12-D287-125C-3A1CC4883636}"/>
              </a:ext>
            </a:extLst>
          </p:cNvPr>
          <p:cNvSpPr/>
          <p:nvPr/>
        </p:nvSpPr>
        <p:spPr>
          <a:xfrm>
            <a:off x="8077200" y="3048000"/>
            <a:ext cx="3606800" cy="12192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F54C5F58-35C6-0940-EEE4-A714F1254EE1}"/>
              </a:ext>
            </a:extLst>
          </p:cNvPr>
          <p:cNvSpPr txBox="1"/>
          <p:nvPr/>
        </p:nvSpPr>
        <p:spPr>
          <a:xfrm>
            <a:off x="8255000" y="3403600"/>
            <a:ext cx="3251200" cy="338554"/>
          </a:xfrm>
          <a:prstGeom prst="rect">
            <a:avLst/>
          </a:prstGeom>
          <a:noFill/>
        </p:spPr>
        <p:txBody>
          <a:bodyPr vert="horz" wrap="square" rtlCol="0">
            <a:noAutofit/>
          </a:bodyPr>
          <a:lstStyle/>
          <a:p>
            <a:r>
              <a:rPr lang="fr-FR" sz="1600" b="1">
                <a:solidFill>
                  <a:srgbClr val="1C1C1C"/>
                </a:solidFill>
                <a:latin typeface="Calibri" panose="020F0502020204030204" pitchFamily="34" charset="0"/>
              </a:rPr>
              <a:t>Nautique</a:t>
            </a:r>
          </a:p>
        </p:txBody>
      </p:sp>
      <p:sp>
        <p:nvSpPr>
          <p:cNvPr id="17" name="Rectangle 16">
            <a:extLst>
              <a:ext uri="{FF2B5EF4-FFF2-40B4-BE49-F238E27FC236}">
                <a16:creationId xmlns:a16="http://schemas.microsoft.com/office/drawing/2014/main" id="{E9CB04C8-4636-F67E-2A59-234EF3419734}"/>
              </a:ext>
            </a:extLst>
          </p:cNvPr>
          <p:cNvSpPr/>
          <p:nvPr/>
        </p:nvSpPr>
        <p:spPr>
          <a:xfrm>
            <a:off x="457200" y="4445000"/>
            <a:ext cx="3606800" cy="12192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9879498D-F060-598C-17B9-EAAF9ADFDF18}"/>
              </a:ext>
            </a:extLst>
          </p:cNvPr>
          <p:cNvSpPr txBox="1"/>
          <p:nvPr/>
        </p:nvSpPr>
        <p:spPr>
          <a:xfrm>
            <a:off x="635000" y="4800600"/>
            <a:ext cx="3251200" cy="338554"/>
          </a:xfrm>
          <a:prstGeom prst="rect">
            <a:avLst/>
          </a:prstGeom>
          <a:noFill/>
        </p:spPr>
        <p:txBody>
          <a:bodyPr vert="horz" wrap="square" rtlCol="0">
            <a:noAutofit/>
          </a:bodyPr>
          <a:lstStyle/>
          <a:p>
            <a:r>
              <a:rPr lang="fr-FR" sz="1600" b="1">
                <a:solidFill>
                  <a:srgbClr val="1C1C1C"/>
                </a:solidFill>
                <a:latin typeface="Calibri" panose="020F0502020204030204" pitchFamily="34" charset="0"/>
              </a:rPr>
              <a:t>Électronique</a:t>
            </a:r>
          </a:p>
        </p:txBody>
      </p:sp>
      <p:sp>
        <p:nvSpPr>
          <p:cNvPr id="19" name="Rectangle 18">
            <a:extLst>
              <a:ext uri="{FF2B5EF4-FFF2-40B4-BE49-F238E27FC236}">
                <a16:creationId xmlns:a16="http://schemas.microsoft.com/office/drawing/2014/main" id="{1E0D1A0C-22D9-01EE-3992-1F2CA123B91B}"/>
              </a:ext>
            </a:extLst>
          </p:cNvPr>
          <p:cNvSpPr/>
          <p:nvPr/>
        </p:nvSpPr>
        <p:spPr>
          <a:xfrm>
            <a:off x="4267200" y="4445000"/>
            <a:ext cx="3606800" cy="12192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7123E0F8-507B-E7F8-334F-E262ED2D93CB}"/>
              </a:ext>
            </a:extLst>
          </p:cNvPr>
          <p:cNvSpPr txBox="1"/>
          <p:nvPr/>
        </p:nvSpPr>
        <p:spPr>
          <a:xfrm>
            <a:off x="4445000" y="4800600"/>
            <a:ext cx="3251200" cy="338554"/>
          </a:xfrm>
          <a:prstGeom prst="rect">
            <a:avLst/>
          </a:prstGeom>
          <a:noFill/>
        </p:spPr>
        <p:txBody>
          <a:bodyPr vert="horz" wrap="square" rtlCol="0">
            <a:noAutofit/>
          </a:bodyPr>
          <a:lstStyle/>
          <a:p>
            <a:r>
              <a:rPr lang="fr-FR" sz="1600" b="1">
                <a:solidFill>
                  <a:srgbClr val="1C1C1C"/>
                </a:solidFill>
                <a:latin typeface="Calibri" panose="020F0502020204030204" pitchFamily="34" charset="0"/>
              </a:rPr>
              <a:t>Transports</a:t>
            </a:r>
          </a:p>
        </p:txBody>
      </p:sp>
      <p:sp>
        <p:nvSpPr>
          <p:cNvPr id="21" name="Rectangle 20">
            <a:extLst>
              <a:ext uri="{FF2B5EF4-FFF2-40B4-BE49-F238E27FC236}">
                <a16:creationId xmlns:a16="http://schemas.microsoft.com/office/drawing/2014/main" id="{9FE8F472-913C-5760-2E08-613D02EA8BEC}"/>
              </a:ext>
            </a:extLst>
          </p:cNvPr>
          <p:cNvSpPr/>
          <p:nvPr/>
        </p:nvSpPr>
        <p:spPr>
          <a:xfrm>
            <a:off x="8077200" y="4445000"/>
            <a:ext cx="3606800" cy="12192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AC410A85-1B47-E9FC-BF1A-EC1985A5AD5E}"/>
              </a:ext>
            </a:extLst>
          </p:cNvPr>
          <p:cNvSpPr txBox="1"/>
          <p:nvPr/>
        </p:nvSpPr>
        <p:spPr>
          <a:xfrm>
            <a:off x="8255000" y="4800600"/>
            <a:ext cx="3251200" cy="338554"/>
          </a:xfrm>
          <a:prstGeom prst="rect">
            <a:avLst/>
          </a:prstGeom>
          <a:noFill/>
        </p:spPr>
        <p:txBody>
          <a:bodyPr vert="horz" wrap="square" rtlCol="0">
            <a:noAutofit/>
          </a:bodyPr>
          <a:lstStyle/>
          <a:p>
            <a:r>
              <a:rPr lang="fr-FR" sz="1600" b="1">
                <a:solidFill>
                  <a:srgbClr val="1C1C1C"/>
                </a:solidFill>
                <a:latin typeface="Calibri" panose="020F0502020204030204" pitchFamily="34" charset="0"/>
              </a:rPr>
              <a:t>Luxe, vins et cosmétique</a:t>
            </a:r>
          </a:p>
        </p:txBody>
      </p:sp>
    </p:spTree>
    <p:extLst>
      <p:ext uri="{BB962C8B-B14F-4D97-AF65-F5344CB8AC3E}">
        <p14:creationId xmlns:p14="http://schemas.microsoft.com/office/powerpoint/2010/main" val="951506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1112836-891D-3E22-ED65-40665A80B7B6}"/>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AC647E2E-A4EE-2130-7BC3-1F1652F4AF85}"/>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Les preuves, visibles tout de suite</a:t>
            </a:r>
          </a:p>
        </p:txBody>
      </p:sp>
      <p:sp>
        <p:nvSpPr>
          <p:cNvPr id="4" name="Rectangle 3">
            <a:extLst>
              <a:ext uri="{FF2B5EF4-FFF2-40B4-BE49-F238E27FC236}">
                <a16:creationId xmlns:a16="http://schemas.microsoft.com/office/drawing/2014/main" id="{DEDFE78A-F7E7-07F1-DF07-FC0C843452E1}"/>
              </a:ext>
            </a:extLst>
          </p:cNvPr>
          <p:cNvSpPr/>
          <p:nvPr/>
        </p:nvSpPr>
        <p:spPr>
          <a:xfrm>
            <a:off x="457200" y="1397000"/>
            <a:ext cx="2743200" cy="2032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02159B80-95F2-1096-E828-35C41C9891A1}"/>
              </a:ext>
            </a:extLst>
          </p:cNvPr>
          <p:cNvSpPr txBox="1"/>
          <p:nvPr/>
        </p:nvSpPr>
        <p:spPr>
          <a:xfrm>
            <a:off x="609600" y="1701800"/>
            <a:ext cx="2438400" cy="430887"/>
          </a:xfrm>
          <a:prstGeom prst="rect">
            <a:avLst/>
          </a:prstGeom>
          <a:noFill/>
        </p:spPr>
        <p:txBody>
          <a:bodyPr vert="horz" wrap="square" rtlCol="0">
            <a:noAutofit/>
          </a:bodyPr>
          <a:lstStyle/>
          <a:p>
            <a:r>
              <a:rPr lang="fr-FR" sz="2200" b="1">
                <a:solidFill>
                  <a:srgbClr val="970232"/>
                </a:solidFill>
                <a:latin typeface="Calibri" panose="020F0502020204030204" pitchFamily="34" charset="0"/>
              </a:rPr>
              <a:t>1961</a:t>
            </a:r>
          </a:p>
        </p:txBody>
      </p:sp>
      <p:sp>
        <p:nvSpPr>
          <p:cNvPr id="6" name="ZoneTexte 5">
            <a:extLst>
              <a:ext uri="{FF2B5EF4-FFF2-40B4-BE49-F238E27FC236}">
                <a16:creationId xmlns:a16="http://schemas.microsoft.com/office/drawing/2014/main" id="{FE568924-50F6-727B-E877-33006F334721}"/>
              </a:ext>
            </a:extLst>
          </p:cNvPr>
          <p:cNvSpPr txBox="1"/>
          <p:nvPr/>
        </p:nvSpPr>
        <p:spPr>
          <a:xfrm>
            <a:off x="609600" y="2463800"/>
            <a:ext cx="2438400" cy="307777"/>
          </a:xfrm>
          <a:prstGeom prst="rect">
            <a:avLst/>
          </a:prstGeom>
          <a:noFill/>
        </p:spPr>
        <p:txBody>
          <a:bodyPr vert="horz" wrap="square" rtlCol="0">
            <a:noAutofit/>
          </a:bodyPr>
          <a:lstStyle/>
          <a:p>
            <a:r>
              <a:rPr lang="fr-FR" sz="1400">
                <a:solidFill>
                  <a:srgbClr val="1C1C1C"/>
                </a:solidFill>
                <a:latin typeface="Calibri" panose="020F0502020204030204" pitchFamily="34" charset="0"/>
              </a:rPr>
              <a:t>Création à Marckolsheim</a:t>
            </a:r>
          </a:p>
        </p:txBody>
      </p:sp>
      <p:sp>
        <p:nvSpPr>
          <p:cNvPr id="7" name="Rectangle 6">
            <a:extLst>
              <a:ext uri="{FF2B5EF4-FFF2-40B4-BE49-F238E27FC236}">
                <a16:creationId xmlns:a16="http://schemas.microsoft.com/office/drawing/2014/main" id="{9FEFC333-75E0-7B93-392A-13975027D31E}"/>
              </a:ext>
            </a:extLst>
          </p:cNvPr>
          <p:cNvSpPr/>
          <p:nvPr/>
        </p:nvSpPr>
        <p:spPr>
          <a:xfrm>
            <a:off x="3352800" y="1397000"/>
            <a:ext cx="2743200" cy="2032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78908818-8DFD-F477-C062-631B15D73F07}"/>
              </a:ext>
            </a:extLst>
          </p:cNvPr>
          <p:cNvSpPr txBox="1"/>
          <p:nvPr/>
        </p:nvSpPr>
        <p:spPr>
          <a:xfrm>
            <a:off x="3505200" y="1701800"/>
            <a:ext cx="2438400" cy="430887"/>
          </a:xfrm>
          <a:prstGeom prst="rect">
            <a:avLst/>
          </a:prstGeom>
          <a:noFill/>
        </p:spPr>
        <p:txBody>
          <a:bodyPr vert="horz" wrap="square" rtlCol="0">
            <a:noAutofit/>
          </a:bodyPr>
          <a:lstStyle/>
          <a:p>
            <a:r>
              <a:rPr lang="fr-FR" sz="2200" b="1">
                <a:solidFill>
                  <a:srgbClr val="970232"/>
                </a:solidFill>
                <a:latin typeface="Calibri" panose="020F0502020204030204" pitchFamily="34" charset="0"/>
              </a:rPr>
              <a:t>ISO 9001</a:t>
            </a:r>
          </a:p>
        </p:txBody>
      </p:sp>
      <p:sp>
        <p:nvSpPr>
          <p:cNvPr id="9" name="ZoneTexte 8">
            <a:extLst>
              <a:ext uri="{FF2B5EF4-FFF2-40B4-BE49-F238E27FC236}">
                <a16:creationId xmlns:a16="http://schemas.microsoft.com/office/drawing/2014/main" id="{567DB529-CD82-CA03-9A17-6D036F14FF8A}"/>
              </a:ext>
            </a:extLst>
          </p:cNvPr>
          <p:cNvSpPr txBox="1"/>
          <p:nvPr/>
        </p:nvSpPr>
        <p:spPr>
          <a:xfrm>
            <a:off x="3505200" y="2463800"/>
            <a:ext cx="2438400" cy="307777"/>
          </a:xfrm>
          <a:prstGeom prst="rect">
            <a:avLst/>
          </a:prstGeom>
          <a:noFill/>
        </p:spPr>
        <p:txBody>
          <a:bodyPr vert="horz" wrap="square" rtlCol="0">
            <a:noAutofit/>
          </a:bodyPr>
          <a:lstStyle/>
          <a:p>
            <a:r>
              <a:rPr lang="fr-FR" sz="1400">
                <a:solidFill>
                  <a:srgbClr val="1C1C1C"/>
                </a:solidFill>
                <a:latin typeface="Calibri" panose="020F0502020204030204" pitchFamily="34" charset="0"/>
              </a:rPr>
              <a:t>Qualité et traçabilité</a:t>
            </a:r>
          </a:p>
        </p:txBody>
      </p:sp>
      <p:sp>
        <p:nvSpPr>
          <p:cNvPr id="10" name="Rectangle 9">
            <a:extLst>
              <a:ext uri="{FF2B5EF4-FFF2-40B4-BE49-F238E27FC236}">
                <a16:creationId xmlns:a16="http://schemas.microsoft.com/office/drawing/2014/main" id="{F44756BF-249C-5B96-2113-89006368960D}"/>
              </a:ext>
            </a:extLst>
          </p:cNvPr>
          <p:cNvSpPr/>
          <p:nvPr/>
        </p:nvSpPr>
        <p:spPr>
          <a:xfrm>
            <a:off x="6248400" y="1397000"/>
            <a:ext cx="2743200" cy="2032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4D899529-2821-9B3B-7BFB-7B69C0DA9DF3}"/>
              </a:ext>
            </a:extLst>
          </p:cNvPr>
          <p:cNvSpPr txBox="1"/>
          <p:nvPr/>
        </p:nvSpPr>
        <p:spPr>
          <a:xfrm>
            <a:off x="6400800" y="1701800"/>
            <a:ext cx="2438400" cy="430887"/>
          </a:xfrm>
          <a:prstGeom prst="rect">
            <a:avLst/>
          </a:prstGeom>
          <a:noFill/>
        </p:spPr>
        <p:txBody>
          <a:bodyPr vert="horz" wrap="square" rtlCol="0">
            <a:noAutofit/>
          </a:bodyPr>
          <a:lstStyle/>
          <a:p>
            <a:r>
              <a:rPr lang="fr-FR" sz="2200" b="1">
                <a:solidFill>
                  <a:srgbClr val="970232"/>
                </a:solidFill>
                <a:latin typeface="Calibri" panose="020F0502020204030204" pitchFamily="34" charset="0"/>
              </a:rPr>
              <a:t>4 500 m²</a:t>
            </a:r>
          </a:p>
        </p:txBody>
      </p:sp>
      <p:sp>
        <p:nvSpPr>
          <p:cNvPr id="12" name="ZoneTexte 11">
            <a:extLst>
              <a:ext uri="{FF2B5EF4-FFF2-40B4-BE49-F238E27FC236}">
                <a16:creationId xmlns:a16="http://schemas.microsoft.com/office/drawing/2014/main" id="{97343D5D-0494-FCF8-16F7-B4116081B2B9}"/>
              </a:ext>
            </a:extLst>
          </p:cNvPr>
          <p:cNvSpPr txBox="1"/>
          <p:nvPr/>
        </p:nvSpPr>
        <p:spPr>
          <a:xfrm>
            <a:off x="6400800" y="2463800"/>
            <a:ext cx="2438400" cy="523220"/>
          </a:xfrm>
          <a:prstGeom prst="rect">
            <a:avLst/>
          </a:prstGeom>
          <a:noFill/>
        </p:spPr>
        <p:txBody>
          <a:bodyPr vert="horz" wrap="square" rtlCol="0">
            <a:noAutofit/>
          </a:bodyPr>
          <a:lstStyle/>
          <a:p>
            <a:r>
              <a:rPr lang="fr-FR" sz="1400">
                <a:solidFill>
                  <a:srgbClr val="1C1C1C"/>
                </a:solidFill>
                <a:latin typeface="Calibri" panose="020F0502020204030204" pitchFamily="34" charset="0"/>
              </a:rPr>
              <a:t>Atelier, de la couleur au contrôle</a:t>
            </a:r>
          </a:p>
        </p:txBody>
      </p:sp>
      <p:sp>
        <p:nvSpPr>
          <p:cNvPr id="13" name="Rectangle 12">
            <a:extLst>
              <a:ext uri="{FF2B5EF4-FFF2-40B4-BE49-F238E27FC236}">
                <a16:creationId xmlns:a16="http://schemas.microsoft.com/office/drawing/2014/main" id="{D612EFDE-855C-237F-A2BF-ACD3C9D77850}"/>
              </a:ext>
            </a:extLst>
          </p:cNvPr>
          <p:cNvSpPr/>
          <p:nvPr/>
        </p:nvSpPr>
        <p:spPr>
          <a:xfrm>
            <a:off x="9144000" y="1397000"/>
            <a:ext cx="2743200" cy="2032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0048BC31-CBB5-A9B6-5501-116471CD1700}"/>
              </a:ext>
            </a:extLst>
          </p:cNvPr>
          <p:cNvSpPr txBox="1"/>
          <p:nvPr/>
        </p:nvSpPr>
        <p:spPr>
          <a:xfrm>
            <a:off x="9296400" y="1701800"/>
            <a:ext cx="2438400" cy="430887"/>
          </a:xfrm>
          <a:prstGeom prst="rect">
            <a:avLst/>
          </a:prstGeom>
          <a:noFill/>
        </p:spPr>
        <p:txBody>
          <a:bodyPr vert="horz" wrap="square" rtlCol="0">
            <a:noAutofit/>
          </a:bodyPr>
          <a:lstStyle/>
          <a:p>
            <a:r>
              <a:rPr lang="fr-FR" sz="2200" b="1">
                <a:solidFill>
                  <a:srgbClr val="970232"/>
                </a:solidFill>
                <a:latin typeface="Calibri" panose="020F0502020204030204" pitchFamily="34" charset="0"/>
              </a:rPr>
              <a:t>IP65</a:t>
            </a:r>
          </a:p>
        </p:txBody>
      </p:sp>
      <p:sp>
        <p:nvSpPr>
          <p:cNvPr id="15" name="ZoneTexte 14">
            <a:extLst>
              <a:ext uri="{FF2B5EF4-FFF2-40B4-BE49-F238E27FC236}">
                <a16:creationId xmlns:a16="http://schemas.microsoft.com/office/drawing/2014/main" id="{F1A17F1B-6A89-9998-3FDA-DF080817534D}"/>
              </a:ext>
            </a:extLst>
          </p:cNvPr>
          <p:cNvSpPr txBox="1"/>
          <p:nvPr/>
        </p:nvSpPr>
        <p:spPr>
          <a:xfrm>
            <a:off x="9296400" y="2463800"/>
            <a:ext cx="2438400" cy="523220"/>
          </a:xfrm>
          <a:prstGeom prst="rect">
            <a:avLst/>
          </a:prstGeom>
          <a:noFill/>
        </p:spPr>
        <p:txBody>
          <a:bodyPr vert="horz" wrap="square" rtlCol="0">
            <a:noAutofit/>
          </a:bodyPr>
          <a:lstStyle/>
          <a:p>
            <a:r>
              <a:rPr lang="fr-FR" sz="1400">
                <a:solidFill>
                  <a:srgbClr val="1C1C1C"/>
                </a:solidFill>
                <a:latin typeface="Calibri" panose="020F0502020204030204" pitchFamily="34" charset="0"/>
              </a:rPr>
              <a:t>Claviers protégés de l'eau et de la poussière</a:t>
            </a:r>
          </a:p>
        </p:txBody>
      </p:sp>
      <p:sp>
        <p:nvSpPr>
          <p:cNvPr id="16" name="Rectangle 15">
            <a:extLst>
              <a:ext uri="{FF2B5EF4-FFF2-40B4-BE49-F238E27FC236}">
                <a16:creationId xmlns:a16="http://schemas.microsoft.com/office/drawing/2014/main" id="{BF51D78D-43FF-F3BA-EB4E-C493FD3FC0B5}"/>
              </a:ext>
            </a:extLst>
          </p:cNvPr>
          <p:cNvSpPr/>
          <p:nvPr/>
        </p:nvSpPr>
        <p:spPr>
          <a:xfrm>
            <a:off x="457200" y="3683000"/>
            <a:ext cx="2743200" cy="2032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E9A52664-AF0A-1145-217C-3FAC9F1DA051}"/>
              </a:ext>
            </a:extLst>
          </p:cNvPr>
          <p:cNvSpPr txBox="1"/>
          <p:nvPr/>
        </p:nvSpPr>
        <p:spPr>
          <a:xfrm>
            <a:off x="609600" y="3987800"/>
            <a:ext cx="2438400" cy="430887"/>
          </a:xfrm>
          <a:prstGeom prst="rect">
            <a:avLst/>
          </a:prstGeom>
          <a:noFill/>
        </p:spPr>
        <p:txBody>
          <a:bodyPr vert="horz" wrap="square" rtlCol="0">
            <a:noAutofit/>
          </a:bodyPr>
          <a:lstStyle/>
          <a:p>
            <a:r>
              <a:rPr lang="fr-FR" sz="2200" b="1">
                <a:solidFill>
                  <a:srgbClr val="970232"/>
                </a:solidFill>
                <a:latin typeface="Calibri" panose="020F0502020204030204" pitchFamily="34" charset="0"/>
              </a:rPr>
              <a:t>100 %</a:t>
            </a:r>
          </a:p>
        </p:txBody>
      </p:sp>
      <p:sp>
        <p:nvSpPr>
          <p:cNvPr id="18" name="ZoneTexte 17">
            <a:extLst>
              <a:ext uri="{FF2B5EF4-FFF2-40B4-BE49-F238E27FC236}">
                <a16:creationId xmlns:a16="http://schemas.microsoft.com/office/drawing/2014/main" id="{20701F24-735F-5B32-B50C-F2878C518D7D}"/>
              </a:ext>
            </a:extLst>
          </p:cNvPr>
          <p:cNvSpPr txBox="1"/>
          <p:nvPr/>
        </p:nvSpPr>
        <p:spPr>
          <a:xfrm>
            <a:off x="609600" y="4749800"/>
            <a:ext cx="2438400" cy="307777"/>
          </a:xfrm>
          <a:prstGeom prst="rect">
            <a:avLst/>
          </a:prstGeom>
          <a:noFill/>
        </p:spPr>
        <p:txBody>
          <a:bodyPr vert="horz" wrap="square" rtlCol="0">
            <a:noAutofit/>
          </a:bodyPr>
          <a:lstStyle/>
          <a:p>
            <a:r>
              <a:rPr lang="fr-FR" sz="1400">
                <a:solidFill>
                  <a:srgbClr val="1C1C1C"/>
                </a:solidFill>
                <a:latin typeface="Calibri" panose="020F0502020204030204" pitchFamily="34" charset="0"/>
              </a:rPr>
              <a:t>Chaque pièce est contrôlée</a:t>
            </a:r>
          </a:p>
        </p:txBody>
      </p:sp>
      <p:sp>
        <p:nvSpPr>
          <p:cNvPr id="19" name="Rectangle 18">
            <a:extLst>
              <a:ext uri="{FF2B5EF4-FFF2-40B4-BE49-F238E27FC236}">
                <a16:creationId xmlns:a16="http://schemas.microsoft.com/office/drawing/2014/main" id="{74511181-5309-273C-E216-A4673D58D157}"/>
              </a:ext>
            </a:extLst>
          </p:cNvPr>
          <p:cNvSpPr/>
          <p:nvPr/>
        </p:nvSpPr>
        <p:spPr>
          <a:xfrm>
            <a:off x="3352800" y="3683000"/>
            <a:ext cx="2743200" cy="2032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F808F399-F6E5-1C67-48E3-4633ECBCDE60}"/>
              </a:ext>
            </a:extLst>
          </p:cNvPr>
          <p:cNvSpPr txBox="1"/>
          <p:nvPr/>
        </p:nvSpPr>
        <p:spPr>
          <a:xfrm>
            <a:off x="3505200" y="3987800"/>
            <a:ext cx="2438400" cy="430887"/>
          </a:xfrm>
          <a:prstGeom prst="rect">
            <a:avLst/>
          </a:prstGeom>
          <a:noFill/>
        </p:spPr>
        <p:txBody>
          <a:bodyPr vert="horz" wrap="square" rtlCol="0">
            <a:noAutofit/>
          </a:bodyPr>
          <a:lstStyle/>
          <a:p>
            <a:r>
              <a:rPr lang="fr-FR" sz="2200" b="1">
                <a:solidFill>
                  <a:srgbClr val="970232"/>
                </a:solidFill>
                <a:latin typeface="Calibri" panose="020F0502020204030204" pitchFamily="34" charset="0"/>
              </a:rPr>
              <a:t>1 million</a:t>
            </a:r>
          </a:p>
        </p:txBody>
      </p:sp>
      <p:sp>
        <p:nvSpPr>
          <p:cNvPr id="21" name="ZoneTexte 20">
            <a:extLst>
              <a:ext uri="{FF2B5EF4-FFF2-40B4-BE49-F238E27FC236}">
                <a16:creationId xmlns:a16="http://schemas.microsoft.com/office/drawing/2014/main" id="{B7E5076D-B671-2C8A-8B54-F151B2E637E7}"/>
              </a:ext>
            </a:extLst>
          </p:cNvPr>
          <p:cNvSpPr txBox="1"/>
          <p:nvPr/>
        </p:nvSpPr>
        <p:spPr>
          <a:xfrm>
            <a:off x="3505200" y="4749800"/>
            <a:ext cx="2438400" cy="307777"/>
          </a:xfrm>
          <a:prstGeom prst="rect">
            <a:avLst/>
          </a:prstGeom>
          <a:noFill/>
        </p:spPr>
        <p:txBody>
          <a:bodyPr vert="horz" wrap="square" rtlCol="0">
            <a:noAutofit/>
          </a:bodyPr>
          <a:lstStyle/>
          <a:p>
            <a:r>
              <a:rPr lang="fr-FR" sz="1400">
                <a:solidFill>
                  <a:srgbClr val="1C1C1C"/>
                </a:solidFill>
                <a:latin typeface="Calibri" panose="020F0502020204030204" pitchFamily="34" charset="0"/>
              </a:rPr>
              <a:t>Coupelles posées par an</a:t>
            </a:r>
          </a:p>
        </p:txBody>
      </p:sp>
      <p:sp>
        <p:nvSpPr>
          <p:cNvPr id="22" name="Rectangle 21">
            <a:extLst>
              <a:ext uri="{FF2B5EF4-FFF2-40B4-BE49-F238E27FC236}">
                <a16:creationId xmlns:a16="http://schemas.microsoft.com/office/drawing/2014/main" id="{28848593-2C05-6A15-F381-649C821C418E}"/>
              </a:ext>
            </a:extLst>
          </p:cNvPr>
          <p:cNvSpPr/>
          <p:nvPr/>
        </p:nvSpPr>
        <p:spPr>
          <a:xfrm>
            <a:off x="6248400" y="3683000"/>
            <a:ext cx="2743200" cy="2032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77F278E0-FAB4-850A-92BF-CF77A52C0022}"/>
              </a:ext>
            </a:extLst>
          </p:cNvPr>
          <p:cNvSpPr txBox="1"/>
          <p:nvPr/>
        </p:nvSpPr>
        <p:spPr>
          <a:xfrm>
            <a:off x="6400800" y="3987800"/>
            <a:ext cx="2438400" cy="430887"/>
          </a:xfrm>
          <a:prstGeom prst="rect">
            <a:avLst/>
          </a:prstGeom>
          <a:noFill/>
        </p:spPr>
        <p:txBody>
          <a:bodyPr vert="horz" wrap="square" rtlCol="0">
            <a:noAutofit/>
          </a:bodyPr>
          <a:lstStyle/>
          <a:p>
            <a:r>
              <a:rPr lang="fr-FR" sz="2200" b="1">
                <a:solidFill>
                  <a:srgbClr val="970232"/>
                </a:solidFill>
                <a:latin typeface="Calibri" panose="020F0502020204030204" pitchFamily="34" charset="0"/>
              </a:rPr>
              <a:t>350 000</a:t>
            </a:r>
          </a:p>
        </p:txBody>
      </p:sp>
      <p:sp>
        <p:nvSpPr>
          <p:cNvPr id="24" name="ZoneTexte 23">
            <a:extLst>
              <a:ext uri="{FF2B5EF4-FFF2-40B4-BE49-F238E27FC236}">
                <a16:creationId xmlns:a16="http://schemas.microsoft.com/office/drawing/2014/main" id="{E46F31E0-12F4-F857-D04C-7139F3FFB4C0}"/>
              </a:ext>
            </a:extLst>
          </p:cNvPr>
          <p:cNvSpPr txBox="1"/>
          <p:nvPr/>
        </p:nvSpPr>
        <p:spPr>
          <a:xfrm>
            <a:off x="6400800" y="4749800"/>
            <a:ext cx="2438400" cy="307777"/>
          </a:xfrm>
          <a:prstGeom prst="rect">
            <a:avLst/>
          </a:prstGeom>
          <a:noFill/>
        </p:spPr>
        <p:txBody>
          <a:bodyPr vert="horz" wrap="square" rtlCol="0">
            <a:noAutofit/>
          </a:bodyPr>
          <a:lstStyle/>
          <a:p>
            <a:r>
              <a:rPr lang="fr-FR" sz="1400">
                <a:solidFill>
                  <a:srgbClr val="1C1C1C"/>
                </a:solidFill>
                <a:latin typeface="Calibri" panose="020F0502020204030204" pitchFamily="34" charset="0"/>
              </a:rPr>
              <a:t>LED posées par an</a:t>
            </a:r>
          </a:p>
        </p:txBody>
      </p:sp>
      <p:sp>
        <p:nvSpPr>
          <p:cNvPr id="25" name="Rectangle 24">
            <a:extLst>
              <a:ext uri="{FF2B5EF4-FFF2-40B4-BE49-F238E27FC236}">
                <a16:creationId xmlns:a16="http://schemas.microsoft.com/office/drawing/2014/main" id="{9D08369D-2048-CE3F-5B33-519C478042D0}"/>
              </a:ext>
            </a:extLst>
          </p:cNvPr>
          <p:cNvSpPr/>
          <p:nvPr/>
        </p:nvSpPr>
        <p:spPr>
          <a:xfrm>
            <a:off x="9144000" y="3683000"/>
            <a:ext cx="2743200" cy="2032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F58EFC84-C9A5-81AA-04EA-382889D946ED}"/>
              </a:ext>
            </a:extLst>
          </p:cNvPr>
          <p:cNvSpPr txBox="1"/>
          <p:nvPr/>
        </p:nvSpPr>
        <p:spPr>
          <a:xfrm>
            <a:off x="9296400" y="3987800"/>
            <a:ext cx="2438400" cy="430887"/>
          </a:xfrm>
          <a:prstGeom prst="rect">
            <a:avLst/>
          </a:prstGeom>
          <a:noFill/>
        </p:spPr>
        <p:txBody>
          <a:bodyPr vert="horz" wrap="square" rtlCol="0">
            <a:noAutofit/>
          </a:bodyPr>
          <a:lstStyle/>
          <a:p>
            <a:r>
              <a:rPr lang="fr-FR" sz="2200" b="1">
                <a:solidFill>
                  <a:srgbClr val="970232"/>
                </a:solidFill>
                <a:latin typeface="Calibri" panose="020F0502020204030204" pitchFamily="34" charset="0"/>
              </a:rPr>
              <a:t>Grands noms</a:t>
            </a:r>
          </a:p>
        </p:txBody>
      </p:sp>
      <p:sp>
        <p:nvSpPr>
          <p:cNvPr id="27" name="ZoneTexte 26">
            <a:extLst>
              <a:ext uri="{FF2B5EF4-FFF2-40B4-BE49-F238E27FC236}">
                <a16:creationId xmlns:a16="http://schemas.microsoft.com/office/drawing/2014/main" id="{E6277A7D-C6F6-C963-D991-4EF834345028}"/>
              </a:ext>
            </a:extLst>
          </p:cNvPr>
          <p:cNvSpPr txBox="1"/>
          <p:nvPr/>
        </p:nvSpPr>
        <p:spPr>
          <a:xfrm>
            <a:off x="9296400" y="4749800"/>
            <a:ext cx="2438400" cy="523220"/>
          </a:xfrm>
          <a:prstGeom prst="rect">
            <a:avLst/>
          </a:prstGeom>
          <a:noFill/>
        </p:spPr>
        <p:txBody>
          <a:bodyPr vert="horz" wrap="square" rtlCol="0">
            <a:noAutofit/>
          </a:bodyPr>
          <a:lstStyle/>
          <a:p>
            <a:r>
              <a:rPr lang="fr-FR" sz="1400">
                <a:solidFill>
                  <a:srgbClr val="1C1C1C"/>
                </a:solidFill>
                <a:latin typeface="Calibri" panose="020F0502020204030204" pitchFamily="34" charset="0"/>
              </a:rPr>
              <a:t>Bosch, Siemens, Hennessy, Chanel...</a:t>
            </a:r>
          </a:p>
        </p:txBody>
      </p:sp>
    </p:spTree>
    <p:extLst>
      <p:ext uri="{BB962C8B-B14F-4D97-AF65-F5344CB8AC3E}">
        <p14:creationId xmlns:p14="http://schemas.microsoft.com/office/powerpoint/2010/main" val="1847674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E19069B-284A-1B0C-397A-ADEDAB1571BF}"/>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23F6514B-EF32-32D9-8EF0-169720A135E2}"/>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Écrire à PIM devient simple</a:t>
            </a:r>
          </a:p>
        </p:txBody>
      </p:sp>
      <p:sp>
        <p:nvSpPr>
          <p:cNvPr id="4" name="Rectangle 3">
            <a:extLst>
              <a:ext uri="{FF2B5EF4-FFF2-40B4-BE49-F238E27FC236}">
                <a16:creationId xmlns:a16="http://schemas.microsoft.com/office/drawing/2014/main" id="{DB2E143A-20F9-8FD8-DA1B-C1AB666B1BE5}"/>
              </a:ext>
            </a:extLst>
          </p:cNvPr>
          <p:cNvSpPr/>
          <p:nvPr/>
        </p:nvSpPr>
        <p:spPr>
          <a:xfrm>
            <a:off x="457200" y="1397000"/>
            <a:ext cx="5461000" cy="4318000"/>
          </a:xfrm>
          <a:prstGeom prst="rect">
            <a:avLst/>
          </a:prstGeom>
          <a:solidFill>
            <a:srgbClr val="F7F4F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Rectangle 4">
            <a:extLst>
              <a:ext uri="{FF2B5EF4-FFF2-40B4-BE49-F238E27FC236}">
                <a16:creationId xmlns:a16="http://schemas.microsoft.com/office/drawing/2014/main" id="{F3FE3C63-B297-5CAE-891B-59939C8BDE2B}"/>
              </a:ext>
            </a:extLst>
          </p:cNvPr>
          <p:cNvSpPr/>
          <p:nvPr/>
        </p:nvSpPr>
        <p:spPr>
          <a:xfrm>
            <a:off x="6223000" y="1397000"/>
            <a:ext cx="5461000" cy="4318000"/>
          </a:xfrm>
          <a:prstGeom prst="rect">
            <a:avLst/>
          </a:prstGeom>
          <a:solidFill>
            <a:srgbClr val="F3E8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12621F76-621E-C796-494A-18DCBC720ED6}"/>
              </a:ext>
            </a:extLst>
          </p:cNvPr>
          <p:cNvSpPr txBox="1"/>
          <p:nvPr/>
        </p:nvSpPr>
        <p:spPr>
          <a:xfrm>
            <a:off x="660400" y="1600200"/>
            <a:ext cx="4953000" cy="369332"/>
          </a:xfrm>
          <a:prstGeom prst="rect">
            <a:avLst/>
          </a:prstGeom>
          <a:noFill/>
        </p:spPr>
        <p:txBody>
          <a:bodyPr vert="horz" wrap="square" rtlCol="0">
            <a:noAutofit/>
          </a:bodyPr>
          <a:lstStyle/>
          <a:p>
            <a:r>
              <a:rPr lang="fr-FR" b="1">
                <a:solidFill>
                  <a:srgbClr val="1C1C1C"/>
                </a:solidFill>
                <a:latin typeface="Calibri" panose="020F0502020204030204" pitchFamily="34" charset="0"/>
              </a:rPr>
              <a:t>Le formulaire complet reste</a:t>
            </a:r>
          </a:p>
        </p:txBody>
      </p:sp>
      <p:sp>
        <p:nvSpPr>
          <p:cNvPr id="7" name="ZoneTexte 6">
            <a:extLst>
              <a:ext uri="{FF2B5EF4-FFF2-40B4-BE49-F238E27FC236}">
                <a16:creationId xmlns:a16="http://schemas.microsoft.com/office/drawing/2014/main" id="{30B58155-097E-5711-EF4D-F5B3AD777B3B}"/>
              </a:ext>
            </a:extLst>
          </p:cNvPr>
          <p:cNvSpPr txBox="1"/>
          <p:nvPr/>
        </p:nvSpPr>
        <p:spPr>
          <a:xfrm>
            <a:off x="660400" y="2159000"/>
            <a:ext cx="4953000" cy="1077218"/>
          </a:xfrm>
          <a:prstGeom prst="rect">
            <a:avLst/>
          </a:prstGeom>
          <a:noFill/>
        </p:spPr>
        <p:txBody>
          <a:bodyPr vert="horz" wrap="square" rtlCol="0">
            <a:noAutofit/>
          </a:bodyPr>
          <a:lstStyle/>
          <a:p>
            <a:r>
              <a:rPr lang="fr-FR" sz="1600">
                <a:solidFill>
                  <a:srgbClr val="1C1C1C"/>
                </a:solidFill>
                <a:latin typeface="Calibri" panose="020F0502020204030204" pitchFamily="34" charset="0"/>
              </a:rPr>
              <a:t>Sur la page Contact, rien n'est enlevé : nom, société, téléphone, délai, précision du projet.
Il sert à ceux qui veulent tout dire.</a:t>
            </a:r>
          </a:p>
        </p:txBody>
      </p:sp>
      <p:sp>
        <p:nvSpPr>
          <p:cNvPr id="8" name="ZoneTexte 7">
            <a:extLst>
              <a:ext uri="{FF2B5EF4-FFF2-40B4-BE49-F238E27FC236}">
                <a16:creationId xmlns:a16="http://schemas.microsoft.com/office/drawing/2014/main" id="{30FB73B8-1179-5158-353D-C195D3D2994B}"/>
              </a:ext>
            </a:extLst>
          </p:cNvPr>
          <p:cNvSpPr txBox="1"/>
          <p:nvPr/>
        </p:nvSpPr>
        <p:spPr>
          <a:xfrm>
            <a:off x="6426200" y="1600200"/>
            <a:ext cx="4953000" cy="369332"/>
          </a:xfrm>
          <a:prstGeom prst="rect">
            <a:avLst/>
          </a:prstGeom>
          <a:noFill/>
        </p:spPr>
        <p:txBody>
          <a:bodyPr vert="horz" wrap="square" rtlCol="0">
            <a:noAutofit/>
          </a:bodyPr>
          <a:lstStyle/>
          <a:p>
            <a:r>
              <a:rPr lang="fr-FR" b="1">
                <a:solidFill>
                  <a:srgbClr val="970232"/>
                </a:solidFill>
                <a:latin typeface="Calibri" panose="020F0502020204030204" pitchFamily="34" charset="0"/>
              </a:rPr>
              <a:t>Un message court partout ailleurs</a:t>
            </a:r>
          </a:p>
        </p:txBody>
      </p:sp>
      <p:sp>
        <p:nvSpPr>
          <p:cNvPr id="9" name="ZoneTexte 8">
            <a:extLst>
              <a:ext uri="{FF2B5EF4-FFF2-40B4-BE49-F238E27FC236}">
                <a16:creationId xmlns:a16="http://schemas.microsoft.com/office/drawing/2014/main" id="{1F42896A-6FCF-F163-133C-4193138FBE00}"/>
              </a:ext>
            </a:extLst>
          </p:cNvPr>
          <p:cNvSpPr txBox="1"/>
          <p:nvPr/>
        </p:nvSpPr>
        <p:spPr>
          <a:xfrm>
            <a:off x="6426200" y="2159000"/>
            <a:ext cx="4953000" cy="1815882"/>
          </a:xfrm>
          <a:prstGeom prst="rect">
            <a:avLst/>
          </a:prstGeom>
          <a:noFill/>
        </p:spPr>
        <p:txBody>
          <a:bodyPr vert="horz" wrap="square" rtlCol="0">
            <a:noAutofit/>
          </a:bodyPr>
          <a:lstStyle/>
          <a:p>
            <a:r>
              <a:rPr lang="fr-FR" sz="1600">
                <a:solidFill>
                  <a:srgbClr val="1C1C1C"/>
                </a:solidFill>
                <a:latin typeface="Calibri" panose="020F0502020204030204" pitchFamily="34" charset="0"/>
              </a:rPr>
              <a:t>En bas de chaque page :
le besoin,
le métier,
l'e-mail.
Le téléphone 03 88 58 62 00 reste visible en haut.</a:t>
            </a:r>
          </a:p>
        </p:txBody>
      </p:sp>
    </p:spTree>
    <p:extLst>
      <p:ext uri="{BB962C8B-B14F-4D97-AF65-F5344CB8AC3E}">
        <p14:creationId xmlns:p14="http://schemas.microsoft.com/office/powerpoint/2010/main" val="309661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6D6718-BFC2-DBB0-3484-6086F37CAA5A}"/>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0E0BF0E2-63F7-6CD9-6DAE-99B33DD69D37}"/>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Les textes que nous allons écrire</a:t>
            </a:r>
          </a:p>
        </p:txBody>
      </p:sp>
      <p:sp>
        <p:nvSpPr>
          <p:cNvPr id="4" name="Ellipse 3">
            <a:extLst>
              <a:ext uri="{FF2B5EF4-FFF2-40B4-BE49-F238E27FC236}">
                <a16:creationId xmlns:a16="http://schemas.microsoft.com/office/drawing/2014/main" id="{D4CD9F1C-0829-9174-6525-65CC693F4020}"/>
              </a:ext>
            </a:extLst>
          </p:cNvPr>
          <p:cNvSpPr/>
          <p:nvPr/>
        </p:nvSpPr>
        <p:spPr>
          <a:xfrm>
            <a:off x="508000" y="13716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EAA5B879-7579-B0E0-87CC-577E532A3EF6}"/>
              </a:ext>
            </a:extLst>
          </p:cNvPr>
          <p:cNvSpPr txBox="1"/>
          <p:nvPr/>
        </p:nvSpPr>
        <p:spPr>
          <a:xfrm>
            <a:off x="736600" y="12700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Une page par métier, avec ses contraintes et les produits PIM qui répondent.</a:t>
            </a:r>
          </a:p>
        </p:txBody>
      </p:sp>
      <p:sp>
        <p:nvSpPr>
          <p:cNvPr id="6" name="Ellipse 5">
            <a:extLst>
              <a:ext uri="{FF2B5EF4-FFF2-40B4-BE49-F238E27FC236}">
                <a16:creationId xmlns:a16="http://schemas.microsoft.com/office/drawing/2014/main" id="{BC7D6386-21CF-2EC1-BFB2-BCAFD104D7A2}"/>
              </a:ext>
            </a:extLst>
          </p:cNvPr>
          <p:cNvSpPr/>
          <p:nvPr/>
        </p:nvSpPr>
        <p:spPr>
          <a:xfrm>
            <a:off x="508000" y="19558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9A119A8C-E34A-6A80-6E46-6744B462DC23}"/>
              </a:ext>
            </a:extLst>
          </p:cNvPr>
          <p:cNvSpPr txBox="1"/>
          <p:nvPr/>
        </p:nvSpPr>
        <p:spPr>
          <a:xfrm>
            <a:off x="736600" y="18542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Les pages produits gardent leur texte. On le range, et on ajoute les questions fréquentes.</a:t>
            </a:r>
          </a:p>
        </p:txBody>
      </p:sp>
      <p:sp>
        <p:nvSpPr>
          <p:cNvPr id="8" name="Ellipse 7">
            <a:extLst>
              <a:ext uri="{FF2B5EF4-FFF2-40B4-BE49-F238E27FC236}">
                <a16:creationId xmlns:a16="http://schemas.microsoft.com/office/drawing/2014/main" id="{10AC9552-32F1-E2D3-06AE-D34C8ED01BEB}"/>
              </a:ext>
            </a:extLst>
          </p:cNvPr>
          <p:cNvSpPr/>
          <p:nvPr/>
        </p:nvSpPr>
        <p:spPr>
          <a:xfrm>
            <a:off x="508000" y="25400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F483C877-10E7-09BD-A890-8E110E3F1C9B}"/>
              </a:ext>
            </a:extLst>
          </p:cNvPr>
          <p:cNvSpPr txBox="1"/>
          <p:nvPr/>
        </p:nvSpPr>
        <p:spPr>
          <a:xfrm>
            <a:off x="736600" y="24384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Le glossaire est rempli : limande, coupelle, étanchéité, sérigraphie, étiquette 3D.</a:t>
            </a:r>
          </a:p>
        </p:txBody>
      </p:sp>
      <p:sp>
        <p:nvSpPr>
          <p:cNvPr id="10" name="Ellipse 9">
            <a:extLst>
              <a:ext uri="{FF2B5EF4-FFF2-40B4-BE49-F238E27FC236}">
                <a16:creationId xmlns:a16="http://schemas.microsoft.com/office/drawing/2014/main" id="{B82BB241-4225-959B-1098-DC472A2649B6}"/>
              </a:ext>
            </a:extLst>
          </p:cNvPr>
          <p:cNvSpPr/>
          <p:nvPr/>
        </p:nvSpPr>
        <p:spPr>
          <a:xfrm>
            <a:off x="508000" y="31242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4EAE1C3C-F95F-7DDC-5D1A-CDF45080EE66}"/>
              </a:ext>
            </a:extLst>
          </p:cNvPr>
          <p:cNvSpPr txBox="1"/>
          <p:nvPr/>
        </p:nvSpPr>
        <p:spPr>
          <a:xfrm>
            <a:off x="736600" y="30226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Les pages atelier ne répètent plus le même paragraphe.</a:t>
            </a:r>
          </a:p>
        </p:txBody>
      </p:sp>
      <p:sp>
        <p:nvSpPr>
          <p:cNvPr id="12" name="Ellipse 11">
            <a:extLst>
              <a:ext uri="{FF2B5EF4-FFF2-40B4-BE49-F238E27FC236}">
                <a16:creationId xmlns:a16="http://schemas.microsoft.com/office/drawing/2014/main" id="{3BE0A7E0-FC86-38D7-C459-FFB59E91D418}"/>
              </a:ext>
            </a:extLst>
          </p:cNvPr>
          <p:cNvSpPr/>
          <p:nvPr/>
        </p:nvSpPr>
        <p:spPr>
          <a:xfrm>
            <a:off x="508000" y="37084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699574F6-7410-3EE1-AC86-0E9C0F79D863}"/>
              </a:ext>
            </a:extLst>
          </p:cNvPr>
          <p:cNvSpPr txBox="1"/>
          <p:nvPr/>
        </p:nvSpPr>
        <p:spPr>
          <a:xfrm>
            <a:off x="736600" y="36068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Les récits clients détaillés ne seront publiés que lorsque PIM les aura validés.</a:t>
            </a:r>
          </a:p>
        </p:txBody>
      </p:sp>
    </p:spTree>
    <p:extLst>
      <p:ext uri="{BB962C8B-B14F-4D97-AF65-F5344CB8AC3E}">
        <p14:creationId xmlns:p14="http://schemas.microsoft.com/office/powerpoint/2010/main" val="2481312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23C175-BD64-A4F9-609A-3277BCAA8C6C}"/>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3791C01A-FAB1-A601-CC04-D75A9346AB89}"/>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Comment on apparaît sur Google</a:t>
            </a:r>
          </a:p>
        </p:txBody>
      </p:sp>
      <p:sp>
        <p:nvSpPr>
          <p:cNvPr id="4" name="Ellipse 3">
            <a:extLst>
              <a:ext uri="{FF2B5EF4-FFF2-40B4-BE49-F238E27FC236}">
                <a16:creationId xmlns:a16="http://schemas.microsoft.com/office/drawing/2014/main" id="{6012D8BF-3CAC-6563-87E2-EF7E4904CC6F}"/>
              </a:ext>
            </a:extLst>
          </p:cNvPr>
          <p:cNvSpPr/>
          <p:nvPr/>
        </p:nvSpPr>
        <p:spPr>
          <a:xfrm>
            <a:off x="508000" y="13716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7E027038-C7AA-9480-68D6-D182FE504EFA}"/>
              </a:ext>
            </a:extLst>
          </p:cNvPr>
          <p:cNvSpPr txBox="1"/>
          <p:nvPr/>
        </p:nvSpPr>
        <p:spPr>
          <a:xfrm>
            <a:off x="736600" y="12700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Chaque page a son propre titre, celui que les gens lisent dans les résultats.</a:t>
            </a:r>
          </a:p>
        </p:txBody>
      </p:sp>
      <p:sp>
        <p:nvSpPr>
          <p:cNvPr id="6" name="Ellipse 5">
            <a:extLst>
              <a:ext uri="{FF2B5EF4-FFF2-40B4-BE49-F238E27FC236}">
                <a16:creationId xmlns:a16="http://schemas.microsoft.com/office/drawing/2014/main" id="{6D467EF9-BA12-C721-D1BA-C732B7DDD716}"/>
              </a:ext>
            </a:extLst>
          </p:cNvPr>
          <p:cNvSpPr/>
          <p:nvPr/>
        </p:nvSpPr>
        <p:spPr>
          <a:xfrm>
            <a:off x="508000" y="19558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C0127E53-5D03-ED60-AC47-497730241616}"/>
              </a:ext>
            </a:extLst>
          </p:cNvPr>
          <p:cNvSpPr txBox="1"/>
          <p:nvPr/>
        </p:nvSpPr>
        <p:spPr>
          <a:xfrm>
            <a:off x="736600" y="18542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Le plan du site, aujourd'hui cassé ou vide, sera une vraie liste de pages.</a:t>
            </a:r>
          </a:p>
        </p:txBody>
      </p:sp>
      <p:sp>
        <p:nvSpPr>
          <p:cNvPr id="8" name="Ellipse 7">
            <a:extLst>
              <a:ext uri="{FF2B5EF4-FFF2-40B4-BE49-F238E27FC236}">
                <a16:creationId xmlns:a16="http://schemas.microsoft.com/office/drawing/2014/main" id="{557EC4FD-6438-AF36-7D8A-02B3A7B3230E}"/>
              </a:ext>
            </a:extLst>
          </p:cNvPr>
          <p:cNvSpPr/>
          <p:nvPr/>
        </p:nvSpPr>
        <p:spPr>
          <a:xfrm>
            <a:off x="508000" y="25400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B588E8B9-A62F-D14E-FFAF-0B29232E691D}"/>
              </a:ext>
            </a:extLst>
          </p:cNvPr>
          <p:cNvSpPr txBox="1"/>
          <p:nvPr/>
        </p:nvSpPr>
        <p:spPr>
          <a:xfrm>
            <a:off x="736600" y="24384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La fiche Google de Marckolsheim reprendra la même adresse, les mêmes métiers et des photos récentes.</a:t>
            </a:r>
          </a:p>
        </p:txBody>
      </p:sp>
      <p:sp>
        <p:nvSpPr>
          <p:cNvPr id="10" name="Ellipse 9">
            <a:extLst>
              <a:ext uri="{FF2B5EF4-FFF2-40B4-BE49-F238E27FC236}">
                <a16:creationId xmlns:a16="http://schemas.microsoft.com/office/drawing/2014/main" id="{90ABE078-DD0E-FCB6-A73D-0F99B3359284}"/>
              </a:ext>
            </a:extLst>
          </p:cNvPr>
          <p:cNvSpPr/>
          <p:nvPr/>
        </p:nvSpPr>
        <p:spPr>
          <a:xfrm>
            <a:off x="508000" y="31242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84BE0920-61C5-717B-DEC4-5F3E1183E08B}"/>
              </a:ext>
            </a:extLst>
          </p:cNvPr>
          <p:cNvSpPr txBox="1"/>
          <p:nvPr/>
        </p:nvSpPr>
        <p:spPr>
          <a:xfrm>
            <a:off x="736600" y="30226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Après la mise en ligne, on vérifie que les anciennes adresses arrivent au bon endroit.</a:t>
            </a:r>
          </a:p>
        </p:txBody>
      </p:sp>
      <p:sp>
        <p:nvSpPr>
          <p:cNvPr id="12" name="Ellipse 11">
            <a:extLst>
              <a:ext uri="{FF2B5EF4-FFF2-40B4-BE49-F238E27FC236}">
                <a16:creationId xmlns:a16="http://schemas.microsoft.com/office/drawing/2014/main" id="{84B62020-8D10-C493-2E28-5172E6AF3B0B}"/>
              </a:ext>
            </a:extLst>
          </p:cNvPr>
          <p:cNvSpPr/>
          <p:nvPr/>
        </p:nvSpPr>
        <p:spPr>
          <a:xfrm>
            <a:off x="508000" y="37084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B1F8E029-F925-143F-0202-CEF11F102EFA}"/>
              </a:ext>
            </a:extLst>
          </p:cNvPr>
          <p:cNvSpPr txBox="1"/>
          <p:nvPr/>
        </p:nvSpPr>
        <p:spPr>
          <a:xfrm>
            <a:off x="736600" y="36068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On suivra deux choses : est-ce que les bonnes pages sortent, et est-ce que les demandes augmentent.</a:t>
            </a:r>
          </a:p>
        </p:txBody>
      </p:sp>
    </p:spTree>
    <p:extLst>
      <p:ext uri="{BB962C8B-B14F-4D97-AF65-F5344CB8AC3E}">
        <p14:creationId xmlns:p14="http://schemas.microsoft.com/office/powerpoint/2010/main" val="24336114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927916-281E-2652-B861-3032464629C9}"/>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D0D7A549-8229-9F46-FD25-B8E6DB46E5C7}"/>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La marque ne change pas</a:t>
            </a:r>
          </a:p>
        </p:txBody>
      </p:sp>
      <p:sp>
        <p:nvSpPr>
          <p:cNvPr id="4" name="Ellipse 3">
            <a:extLst>
              <a:ext uri="{FF2B5EF4-FFF2-40B4-BE49-F238E27FC236}">
                <a16:creationId xmlns:a16="http://schemas.microsoft.com/office/drawing/2014/main" id="{63308EE2-F30C-FB74-2010-0D80131F0B3B}"/>
              </a:ext>
            </a:extLst>
          </p:cNvPr>
          <p:cNvSpPr/>
          <p:nvPr/>
        </p:nvSpPr>
        <p:spPr>
          <a:xfrm>
            <a:off x="508000" y="12446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7363D8DA-BDEF-9009-6AF2-DFFF7371C7BC}"/>
              </a:ext>
            </a:extLst>
          </p:cNvPr>
          <p:cNvSpPr txBox="1"/>
          <p:nvPr/>
        </p:nvSpPr>
        <p:spPr>
          <a:xfrm>
            <a:off x="736600" y="11430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Le logo PIM Industrie reste.</a:t>
            </a:r>
          </a:p>
        </p:txBody>
      </p:sp>
      <p:sp>
        <p:nvSpPr>
          <p:cNvPr id="6" name="Ellipse 5">
            <a:extLst>
              <a:ext uri="{FF2B5EF4-FFF2-40B4-BE49-F238E27FC236}">
                <a16:creationId xmlns:a16="http://schemas.microsoft.com/office/drawing/2014/main" id="{1161E10B-A135-8D45-1F1E-1E7519F1D2AF}"/>
              </a:ext>
            </a:extLst>
          </p:cNvPr>
          <p:cNvSpPr/>
          <p:nvPr/>
        </p:nvSpPr>
        <p:spPr>
          <a:xfrm>
            <a:off x="508000" y="18288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5885C717-D3F0-51DF-1DA8-5281BDC2B8D0}"/>
              </a:ext>
            </a:extLst>
          </p:cNvPr>
          <p:cNvSpPr txBox="1"/>
          <p:nvPr/>
        </p:nvSpPr>
        <p:spPr>
          <a:xfrm>
            <a:off x="736600" y="17272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Le bordeaux, le noir et le blanc restent.</a:t>
            </a:r>
          </a:p>
        </p:txBody>
      </p:sp>
      <p:sp>
        <p:nvSpPr>
          <p:cNvPr id="8" name="Ellipse 7">
            <a:extLst>
              <a:ext uri="{FF2B5EF4-FFF2-40B4-BE49-F238E27FC236}">
                <a16:creationId xmlns:a16="http://schemas.microsoft.com/office/drawing/2014/main" id="{D61837DC-077C-2A93-7FF8-A07AD530DF47}"/>
              </a:ext>
            </a:extLst>
          </p:cNvPr>
          <p:cNvSpPr/>
          <p:nvPr/>
        </p:nvSpPr>
        <p:spPr>
          <a:xfrm>
            <a:off x="508000" y="24130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5333F37B-810F-4DAD-50BD-A1E8F4FB438B}"/>
              </a:ext>
            </a:extLst>
          </p:cNvPr>
          <p:cNvSpPr txBox="1"/>
          <p:nvPr/>
        </p:nvSpPr>
        <p:spPr>
          <a:xfrm>
            <a:off x="736600" y="23114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Le téléphone reste en haut de chaque page.</a:t>
            </a:r>
          </a:p>
        </p:txBody>
      </p:sp>
      <p:sp>
        <p:nvSpPr>
          <p:cNvPr id="10" name="Ellipse 9">
            <a:extLst>
              <a:ext uri="{FF2B5EF4-FFF2-40B4-BE49-F238E27FC236}">
                <a16:creationId xmlns:a16="http://schemas.microsoft.com/office/drawing/2014/main" id="{6899A589-039F-71A1-5DD9-83EEBF30FEA6}"/>
              </a:ext>
            </a:extLst>
          </p:cNvPr>
          <p:cNvSpPr/>
          <p:nvPr/>
        </p:nvSpPr>
        <p:spPr>
          <a:xfrm>
            <a:off x="508000" y="29972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03291C0D-F94F-ACFD-3674-0D6D8FEE08A5}"/>
              </a:ext>
            </a:extLst>
          </p:cNvPr>
          <p:cNvSpPr txBox="1"/>
          <p:nvPr/>
        </p:nvSpPr>
        <p:spPr>
          <a:xfrm>
            <a:off x="736600" y="28956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Le ton reste industriel et précis. Pas un site à la mode.</a:t>
            </a:r>
          </a:p>
        </p:txBody>
      </p:sp>
      <p:sp>
        <p:nvSpPr>
          <p:cNvPr id="12" name="Ellipse 11">
            <a:extLst>
              <a:ext uri="{FF2B5EF4-FFF2-40B4-BE49-F238E27FC236}">
                <a16:creationId xmlns:a16="http://schemas.microsoft.com/office/drawing/2014/main" id="{AD5C4548-4D08-47B3-4D6F-99D7DDDCF3D2}"/>
              </a:ext>
            </a:extLst>
          </p:cNvPr>
          <p:cNvSpPr/>
          <p:nvPr/>
        </p:nvSpPr>
        <p:spPr>
          <a:xfrm>
            <a:off x="508000" y="35814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587CC631-C145-D8D2-DBC8-521672CD101D}"/>
              </a:ext>
            </a:extLst>
          </p:cNvPr>
          <p:cNvSpPr txBox="1"/>
          <p:nvPr/>
        </p:nvSpPr>
        <p:spPr>
          <a:xfrm>
            <a:off x="736600" y="34798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La décoration et l'industrie restent dans la même maison, avec deux façons de parler.</a:t>
            </a:r>
          </a:p>
        </p:txBody>
      </p:sp>
      <p:sp>
        <p:nvSpPr>
          <p:cNvPr id="14" name="Ellipse 13">
            <a:extLst>
              <a:ext uri="{FF2B5EF4-FFF2-40B4-BE49-F238E27FC236}">
                <a16:creationId xmlns:a16="http://schemas.microsoft.com/office/drawing/2014/main" id="{D69347A5-FC88-81B6-5A6D-F823F60BD23B}"/>
              </a:ext>
            </a:extLst>
          </p:cNvPr>
          <p:cNvSpPr/>
          <p:nvPr/>
        </p:nvSpPr>
        <p:spPr>
          <a:xfrm>
            <a:off x="508000" y="4165600"/>
            <a:ext cx="101600" cy="101600"/>
          </a:xfrm>
          <a:prstGeom prst="ellipse">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8442FF27-C079-68F2-5A79-961EB9952CEC}"/>
              </a:ext>
            </a:extLst>
          </p:cNvPr>
          <p:cNvSpPr txBox="1"/>
          <p:nvPr/>
        </p:nvSpPr>
        <p:spPr>
          <a:xfrm>
            <a:off x="736600" y="4064000"/>
            <a:ext cx="10922000" cy="338554"/>
          </a:xfrm>
          <a:prstGeom prst="rect">
            <a:avLst/>
          </a:prstGeom>
          <a:noFill/>
        </p:spPr>
        <p:txBody>
          <a:bodyPr vert="horz" wrap="square" rtlCol="0">
            <a:noAutofit/>
          </a:bodyPr>
          <a:lstStyle/>
          <a:p>
            <a:r>
              <a:rPr lang="fr-FR" sz="1600">
                <a:solidFill>
                  <a:srgbClr val="1C1C1C"/>
                </a:solidFill>
                <a:latin typeface="Calibri" panose="020F0502020204030204" pitchFamily="34" charset="0"/>
              </a:rPr>
              <a:t>L'anglais et l'allemand seront repris quand les textes français seront prêts. Pas avant.</a:t>
            </a:r>
          </a:p>
        </p:txBody>
      </p:sp>
    </p:spTree>
    <p:extLst>
      <p:ext uri="{BB962C8B-B14F-4D97-AF65-F5344CB8AC3E}">
        <p14:creationId xmlns:p14="http://schemas.microsoft.com/office/powerpoint/2010/main" val="1259234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941FB5E-7DA8-B3C7-4F15-7D37CD878FB0}"/>
              </a:ext>
            </a:extLst>
          </p:cNvPr>
          <p:cNvSpPr/>
          <p:nvPr/>
        </p:nvSpPr>
        <p:spPr>
          <a:xfrm>
            <a:off x="0" y="0"/>
            <a:ext cx="127000" cy="6858000"/>
          </a:xfrm>
          <a:prstGeom prst="rect">
            <a:avLst/>
          </a:prstGeom>
          <a:solidFill>
            <a:srgbClr val="97023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ZoneTexte 2">
            <a:extLst>
              <a:ext uri="{FF2B5EF4-FFF2-40B4-BE49-F238E27FC236}">
                <a16:creationId xmlns:a16="http://schemas.microsoft.com/office/drawing/2014/main" id="{86195D09-8392-7404-D329-94E7F26A66A7}"/>
              </a:ext>
            </a:extLst>
          </p:cNvPr>
          <p:cNvSpPr txBox="1"/>
          <p:nvPr/>
        </p:nvSpPr>
        <p:spPr>
          <a:xfrm>
            <a:off x="457200" y="279400"/>
            <a:ext cx="11176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Dans quel ordre</a:t>
            </a:r>
          </a:p>
        </p:txBody>
      </p:sp>
      <p:sp>
        <p:nvSpPr>
          <p:cNvPr id="4" name="ZoneTexte 3">
            <a:extLst>
              <a:ext uri="{FF2B5EF4-FFF2-40B4-BE49-F238E27FC236}">
                <a16:creationId xmlns:a16="http://schemas.microsoft.com/office/drawing/2014/main" id="{A5E9599E-52EA-B533-A60A-365671DFA8F1}"/>
              </a:ext>
            </a:extLst>
          </p:cNvPr>
          <p:cNvSpPr txBox="1"/>
          <p:nvPr/>
        </p:nvSpPr>
        <p:spPr>
          <a:xfrm>
            <a:off x="508000" y="1270000"/>
            <a:ext cx="635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1</a:t>
            </a:r>
          </a:p>
        </p:txBody>
      </p:sp>
      <p:sp>
        <p:nvSpPr>
          <p:cNvPr id="5" name="ZoneTexte 4">
            <a:extLst>
              <a:ext uri="{FF2B5EF4-FFF2-40B4-BE49-F238E27FC236}">
                <a16:creationId xmlns:a16="http://schemas.microsoft.com/office/drawing/2014/main" id="{EB24BB72-8A6F-0DE2-37CB-0109B839373A}"/>
              </a:ext>
            </a:extLst>
          </p:cNvPr>
          <p:cNvSpPr txBox="1"/>
          <p:nvPr/>
        </p:nvSpPr>
        <p:spPr>
          <a:xfrm>
            <a:off x="1270000" y="1320800"/>
            <a:ext cx="10160000" cy="369332"/>
          </a:xfrm>
          <a:prstGeom prst="rect">
            <a:avLst/>
          </a:prstGeom>
          <a:noFill/>
        </p:spPr>
        <p:txBody>
          <a:bodyPr vert="horz" wrap="square" rtlCol="0">
            <a:noAutofit/>
          </a:bodyPr>
          <a:lstStyle/>
          <a:p>
            <a:r>
              <a:rPr lang="fr-FR">
                <a:solidFill>
                  <a:srgbClr val="1C1C1C"/>
                </a:solidFill>
                <a:latin typeface="Calibri" panose="020F0502020204030204" pitchFamily="34" charset="0"/>
              </a:rPr>
              <a:t>Valider ensemble cette liste.</a:t>
            </a:r>
          </a:p>
        </p:txBody>
      </p:sp>
      <p:sp>
        <p:nvSpPr>
          <p:cNvPr id="6" name="ZoneTexte 5">
            <a:extLst>
              <a:ext uri="{FF2B5EF4-FFF2-40B4-BE49-F238E27FC236}">
                <a16:creationId xmlns:a16="http://schemas.microsoft.com/office/drawing/2014/main" id="{DF54B4B9-B065-A52F-1CA8-32A17FEA2B2C}"/>
              </a:ext>
            </a:extLst>
          </p:cNvPr>
          <p:cNvSpPr txBox="1"/>
          <p:nvPr/>
        </p:nvSpPr>
        <p:spPr>
          <a:xfrm>
            <a:off x="508000" y="2184400"/>
            <a:ext cx="635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2</a:t>
            </a:r>
          </a:p>
        </p:txBody>
      </p:sp>
      <p:sp>
        <p:nvSpPr>
          <p:cNvPr id="7" name="ZoneTexte 6">
            <a:extLst>
              <a:ext uri="{FF2B5EF4-FFF2-40B4-BE49-F238E27FC236}">
                <a16:creationId xmlns:a16="http://schemas.microsoft.com/office/drawing/2014/main" id="{EDE2A9D3-F63F-A088-C611-09782E9903C4}"/>
              </a:ext>
            </a:extLst>
          </p:cNvPr>
          <p:cNvSpPr txBox="1"/>
          <p:nvPr/>
        </p:nvSpPr>
        <p:spPr>
          <a:xfrm>
            <a:off x="1270000" y="2235200"/>
            <a:ext cx="10160000" cy="369332"/>
          </a:xfrm>
          <a:prstGeom prst="rect">
            <a:avLst/>
          </a:prstGeom>
          <a:noFill/>
        </p:spPr>
        <p:txBody>
          <a:bodyPr vert="horz" wrap="square" rtlCol="0">
            <a:noAutofit/>
          </a:bodyPr>
          <a:lstStyle/>
          <a:p>
            <a:r>
              <a:rPr lang="fr-FR">
                <a:solidFill>
                  <a:srgbClr val="1C1C1C"/>
                </a:solidFill>
                <a:latin typeface="Calibri" panose="020F0502020204030204" pitchFamily="34" charset="0"/>
              </a:rPr>
              <a:t>Garder les bonnes adresses, réparer les autres.</a:t>
            </a:r>
          </a:p>
        </p:txBody>
      </p:sp>
      <p:sp>
        <p:nvSpPr>
          <p:cNvPr id="8" name="ZoneTexte 7">
            <a:extLst>
              <a:ext uri="{FF2B5EF4-FFF2-40B4-BE49-F238E27FC236}">
                <a16:creationId xmlns:a16="http://schemas.microsoft.com/office/drawing/2014/main" id="{23C06378-7C93-9729-61BD-FAEA6DDE4462}"/>
              </a:ext>
            </a:extLst>
          </p:cNvPr>
          <p:cNvSpPr txBox="1"/>
          <p:nvPr/>
        </p:nvSpPr>
        <p:spPr>
          <a:xfrm>
            <a:off x="508000" y="3098800"/>
            <a:ext cx="635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3</a:t>
            </a:r>
          </a:p>
        </p:txBody>
      </p:sp>
      <p:sp>
        <p:nvSpPr>
          <p:cNvPr id="9" name="ZoneTexte 8">
            <a:extLst>
              <a:ext uri="{FF2B5EF4-FFF2-40B4-BE49-F238E27FC236}">
                <a16:creationId xmlns:a16="http://schemas.microsoft.com/office/drawing/2014/main" id="{325D3515-78C7-5864-5683-84D7BC4E111C}"/>
              </a:ext>
            </a:extLst>
          </p:cNvPr>
          <p:cNvSpPr txBox="1"/>
          <p:nvPr/>
        </p:nvSpPr>
        <p:spPr>
          <a:xfrm>
            <a:off x="1270000" y="3149600"/>
            <a:ext cx="10160000" cy="369332"/>
          </a:xfrm>
          <a:prstGeom prst="rect">
            <a:avLst/>
          </a:prstGeom>
          <a:noFill/>
        </p:spPr>
        <p:txBody>
          <a:bodyPr vert="horz" wrap="square" rtlCol="0">
            <a:noAutofit/>
          </a:bodyPr>
          <a:lstStyle/>
          <a:p>
            <a:r>
              <a:rPr lang="fr-FR">
                <a:solidFill>
                  <a:srgbClr val="1C1C1C"/>
                </a:solidFill>
                <a:latin typeface="Calibri" panose="020F0502020204030204" pitchFamily="34" charset="0"/>
              </a:rPr>
              <a:t>Écrire les pages métier, le glossaire, remonter les preuves.</a:t>
            </a:r>
          </a:p>
        </p:txBody>
      </p:sp>
      <p:sp>
        <p:nvSpPr>
          <p:cNvPr id="10" name="ZoneTexte 9">
            <a:extLst>
              <a:ext uri="{FF2B5EF4-FFF2-40B4-BE49-F238E27FC236}">
                <a16:creationId xmlns:a16="http://schemas.microsoft.com/office/drawing/2014/main" id="{CE09FD6B-9D88-20C8-03E4-8B3A24036D42}"/>
              </a:ext>
            </a:extLst>
          </p:cNvPr>
          <p:cNvSpPr txBox="1"/>
          <p:nvPr/>
        </p:nvSpPr>
        <p:spPr>
          <a:xfrm>
            <a:off x="508000" y="4013200"/>
            <a:ext cx="635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4</a:t>
            </a:r>
          </a:p>
        </p:txBody>
      </p:sp>
      <p:sp>
        <p:nvSpPr>
          <p:cNvPr id="11" name="ZoneTexte 10">
            <a:extLst>
              <a:ext uri="{FF2B5EF4-FFF2-40B4-BE49-F238E27FC236}">
                <a16:creationId xmlns:a16="http://schemas.microsoft.com/office/drawing/2014/main" id="{D2A16D4C-0EB6-1227-4B37-7786B37A0A3E}"/>
              </a:ext>
            </a:extLst>
          </p:cNvPr>
          <p:cNvSpPr txBox="1"/>
          <p:nvPr/>
        </p:nvSpPr>
        <p:spPr>
          <a:xfrm>
            <a:off x="1270000" y="4064000"/>
            <a:ext cx="10160000" cy="369332"/>
          </a:xfrm>
          <a:prstGeom prst="rect">
            <a:avLst/>
          </a:prstGeom>
          <a:noFill/>
        </p:spPr>
        <p:txBody>
          <a:bodyPr vert="horz" wrap="square" rtlCol="0">
            <a:noAutofit/>
          </a:bodyPr>
          <a:lstStyle/>
          <a:p>
            <a:r>
              <a:rPr lang="fr-FR">
                <a:solidFill>
                  <a:srgbClr val="1C1C1C"/>
                </a:solidFill>
                <a:latin typeface="Calibri" panose="020F0502020204030204" pitchFamily="34" charset="0"/>
              </a:rPr>
              <a:t>Mettre en ligne, puis vérifier chaque ancienne adresse.</a:t>
            </a:r>
          </a:p>
        </p:txBody>
      </p:sp>
      <p:sp>
        <p:nvSpPr>
          <p:cNvPr id="12" name="ZoneTexte 11">
            <a:extLst>
              <a:ext uri="{FF2B5EF4-FFF2-40B4-BE49-F238E27FC236}">
                <a16:creationId xmlns:a16="http://schemas.microsoft.com/office/drawing/2014/main" id="{2316D2A6-A2CE-A10A-8ABF-6B3D6BC52970}"/>
              </a:ext>
            </a:extLst>
          </p:cNvPr>
          <p:cNvSpPr txBox="1"/>
          <p:nvPr/>
        </p:nvSpPr>
        <p:spPr>
          <a:xfrm>
            <a:off x="508000" y="4927600"/>
            <a:ext cx="635000" cy="492443"/>
          </a:xfrm>
          <a:prstGeom prst="rect">
            <a:avLst/>
          </a:prstGeom>
          <a:noFill/>
        </p:spPr>
        <p:txBody>
          <a:bodyPr vert="horz" wrap="square" rtlCol="0">
            <a:noAutofit/>
          </a:bodyPr>
          <a:lstStyle/>
          <a:p>
            <a:r>
              <a:rPr lang="fr-FR" sz="2600" b="1">
                <a:solidFill>
                  <a:srgbClr val="970232"/>
                </a:solidFill>
                <a:latin typeface="Calibri" panose="020F0502020204030204" pitchFamily="34" charset="0"/>
              </a:rPr>
              <a:t>5</a:t>
            </a:r>
          </a:p>
        </p:txBody>
      </p:sp>
      <p:sp>
        <p:nvSpPr>
          <p:cNvPr id="13" name="ZoneTexte 12">
            <a:extLst>
              <a:ext uri="{FF2B5EF4-FFF2-40B4-BE49-F238E27FC236}">
                <a16:creationId xmlns:a16="http://schemas.microsoft.com/office/drawing/2014/main" id="{F2DF5BF8-2A67-AF7C-3426-863B1F0A7B36}"/>
              </a:ext>
            </a:extLst>
          </p:cNvPr>
          <p:cNvSpPr txBox="1"/>
          <p:nvPr/>
        </p:nvSpPr>
        <p:spPr>
          <a:xfrm>
            <a:off x="1270000" y="4978400"/>
            <a:ext cx="10160000" cy="369332"/>
          </a:xfrm>
          <a:prstGeom prst="rect">
            <a:avLst/>
          </a:prstGeom>
          <a:noFill/>
        </p:spPr>
        <p:txBody>
          <a:bodyPr vert="horz" wrap="square" rtlCol="0">
            <a:noAutofit/>
          </a:bodyPr>
          <a:lstStyle/>
          <a:p>
            <a:r>
              <a:rPr lang="fr-FR">
                <a:solidFill>
                  <a:srgbClr val="1C1C1C"/>
                </a:solidFill>
                <a:latin typeface="Calibri" panose="020F0502020204030204" pitchFamily="34" charset="0"/>
              </a:rPr>
              <a:t>Ensuite seulement : anglais, allemand, récits clients.</a:t>
            </a:r>
          </a:p>
        </p:txBody>
      </p:sp>
    </p:spTree>
    <p:extLst>
      <p:ext uri="{BB962C8B-B14F-4D97-AF65-F5344CB8AC3E}">
        <p14:creationId xmlns:p14="http://schemas.microsoft.com/office/powerpoint/2010/main" val="351869363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202</TotalTime>
  <Words>1203</Words>
  <Application>Microsoft Office PowerPoint</Application>
  <PresentationFormat>Grand écran</PresentationFormat>
  <Paragraphs>136</Paragraphs>
  <Slides>16</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16</vt:i4>
      </vt:variant>
    </vt:vector>
  </HeadingPairs>
  <TitlesOfParts>
    <vt:vector size="21" baseType="lpstr">
      <vt:lpstr>Aptos</vt:lpstr>
      <vt:lpstr>Aptos Display</vt:lpstr>
      <vt:lpstr>Arial</vt:lpstr>
      <vt:lpstr>Calibri</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Natalia Osiak</dc:creator>
  <cp:lastModifiedBy>Natalia Osiak</cp:lastModifiedBy>
  <cp:revision>3</cp:revision>
  <dcterms:created xsi:type="dcterms:W3CDTF">2026-10-19T09:29:04Z</dcterms:created>
  <dcterms:modified xsi:type="dcterms:W3CDTF">2026-10-22T06:52:00Z</dcterms:modified>
</cp:coreProperties>
</file>